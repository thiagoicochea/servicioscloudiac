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Introducción y arquitectura" id="{af5b9c73-784d-10cf-0653-3e4e07321da9}">
          <p14:sldIdLst>
            <p14:sldId id="256"/>
            <p14:sldId id="257"/>
            <p14:sldId id="258"/>
          </p14:sldIdLst>
        </p14:section>
        <p14:section name="2. Infraestructura AWS" id="{cf192275-b3c0-e433-1c2c-3e216ad270ce}">
          <p14:sldIdLst>
            <p14:sldId id="259"/>
            <p14:sldId id="260"/>
          </p14:sldIdLst>
        </p14:section>
        <p14:section name="3. Infraestructura GCP" id="{8fd1115d-440f-eeaa-0ff6-3dfdf0b2cacf}">
          <p14:sldIdLst>
            <p14:sldId id="261"/>
            <p14:sldId id="262"/>
          </p14:sldIdLst>
        </p14:section>
        <p14:section name="4. CI/CD y seguridad" id="{4f3852be-8e38-9e94-4b6d-e31c103c4a7c}">
          <p14:sldIdLst>
            <p14:sldId id="263"/>
            <p14:sldId id="264"/>
          </p14:sldIdLst>
        </p14:section>
        <p14:section name="5. State, Drift y resultados" id="{00a07271-9460-eaaa-254d-ce6b1de62500}">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THIAGO (≈20 s): Buenos días. Somos el grupo de Servicios Cloud y vamos a presentar nuestro proyecto de Infraestructura como Código con Terraform para administrar 50 sucursales en AWS y Google Cloud. Cada integrante expondrá la parte que desarrolló.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THIAGO (≈40 s): El trabajo se dividió en cinco frentes, uno por integrante, y cada uno fue responsable de diseñar, programar, probar y documentar su parte. Yo coordiné y diseñé la arquitectura; Carlos hizo los módulos de AWS; Eddyson los de GCP; Huber el pipeline CI/CD y la seguridad; y Karen el estado de Terraform, el drift y el plan de pruebas. El detalle completo está en la sección 17 del informe y en docs/academic/reparticion-tareas.md del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THIAGO (≈1 min 40 s): El problema es administrar 50 sucursales con la misma infraestructura sin copiar configuración. Nuestra solución describe cada sucursal como datos en branches.yaml, generado por un script de Python. El módulo branch-stack lee ese archivo, filtra por entorno y por proveedor, y llama a los módulos de AWS o de GCP. Así, agregar la sucursal 51 es agregar una entrada al YAML, sin tocar ningún archivo .tf; lo comprobamos en el caso de prueba CP15. Separamos tres entornos con su propio estado. La restricción principal fue no tener credenciales de AWS ni GCP, por eso todo se valida con pruebas simuladas y laboratorios locales. Ahora Carlos explicará la parte de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CARLOS (≈1 min 30 s): Me encargué de los cuatro módulos de AWS. El módulo network crea una VPC por sucursal, con su subnet, Internet Gateway y tabla de rutas; elegimos una VPC por sucursal y no una compartida para aislar realmente cada sede. El módulo compute crea los dos servidores, web y app, con el tamaño que indica el YAML. Security crea un Security Group propio por sucursal con las reglas de HTTP, HTTPS y SSH solo desde la red interna, para poder cambiar una sucursal sin afectar a las demás. Monitoring crea un Log Group de CloudWatch y una alarma de CPU por servidor. En total, para las 25 sucursales AWS: 25 VPC, 50 instancias, 75 reglas y 50 alarmas.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CARLOS (≈1 min 20 s): Como no teníamos credenciales, probé los módulos con terraform test y mock_provider, que simula AWS sin hacer llamadas reales. Escribí cuatro suites con aserciones: que la VPC use el CIDR declarado, que haya exactamente dos instancias, una regla por entrada y las alarmas. En la primera corrida apareció un error real: yo accedía a route[0] en la tabla de rutas, pero route es un set y no se puede indexar. Lo cambié por una expresión anytrue y todas las pruebas pasaron. Lo importante es que el error se detectó antes de cualquier despliegue. Ahora Eddyson presenta la parte de GCP.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EDDYSON (≈1 min 30 s): Yo desarrollé los cuatro módulos de Google Cloud. En network creo la VPC en modo personalizado, para que GCP no genere subnets automáticas en todas las regiones, más una subnet regional, un Cloud Router y Cloud NAT para la salida a Internet. Compute crea los dos servidores con machine_type e2. En security, como GCP no tiene Security Groups, cada regla es un recurso google_compute_firewall independiente. Monitoring crea una política de alerta cuando la CPU supera el 80%. Para las 25 sucursales GCP son 25 redes, 50 instancias, 75 reglas y 25 alertas.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EDDYSON (≈1 min 20 s): Los módulos de AWS y GCP reciben los mismos campos lógicos del YAML: size, servers, rules y monitoring. Pero no forzamos una abstracción artificial: respetamos las diferencias reales, por ejemplo GCP no tiene un contenedor tipo Security Group, la salida a Internet es con Cloud NAT, y la región se define a nivel de recurso, mientras que en AWS es a nivel de provider. Probé los módulos con mock_provider google y todas las suites pasaron. Además, en el primer run del pipeline TFLint encontró cuatro advertencias en mis módulos que corregí. Le paso la palabra a Huber con el pipeline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HUBER (≈1 min 30 s): Yo implementé el pipeline en GitHub Actions. Es uno solo para AWS y GCP, porque ambos conviven en el mismo branch-stack. En cada push o Pull Request se ejecuta: formato, validate en los tres entornos, la validación del esquema de las 50 sucursales, terraform test, TFLint, y en el workflow de seguridad Checkov y gitleaks. Para aprobar un cambio se trabaja en una rama, se abre un Pull Request, las validaciones deben pasar y un revisor confirma el checklist. El pipeline nunca ejecuta apply contra la nube porque no tenemos credenciales; dejamos documentado cómo habilitarlo con OIDC y un entorno con aprobadores.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HUBER (≈1 min 20 s): En seguridad, el .gitignore excluye estados, variables reales y claves; gitleaks escanea todo el historial y una verificación adicional hace fallar el pipeline si alguien versiona un .tfstate o una clave. El diseño de IAM sigue el mínimo privilegio. También armé el laboratorio Docker con dos sucursales y cuatro contenedores. Como el equipo local no tenía Docker operativo, lo ejecuté en un runner de GitHub Actions: los cuatro contenedores quedaron healthy, respondieron HTTP 200, hubo conectividad dentro de cada sucursal y aislamiento entre sucursales. Ahora Karen presenta el estado, el drift y los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KAREN (≈1 min): Yo trabajé la gestión del estado. Para un despliegue empresarial diseñamos backends remotos: S3 con versionado, cifrado KMS y bloqueo en AWS, y GCS con versionado y bloqueo nativo en GCP, ambos con permisos mínimos por entorno. Lo que sí ejecutamos fue un laboratorio con backend local que recorre todo el ciclo: init, apply, consultar con state list y show, modificar, planificar, aplicar y destruir (CP12). Un punto clave: el state guarda datos sensibles en texto plano, por eso nunca se sube a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KAREN (≈50 s): Para el drift usamos un archivo local gestionado por Terraform. Lo creamos con apply, luego lo modificamos a mano, como si alguien cambiara producción por consola, poniendo max_connections en 9999. terraform plan detectó la diferencia; con plan -refresh-only lo confirmamos; decidimos revertir y un apply normal devolvió el archivo al valor declarado. Ojo: refresh-only solo actualiza el estado, no corrige la infraestructura. El mismo flujo corre en el workflow drift-check de GitHub Actions (CP13 y CP14).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KAREN (≈1 min): Elaboré el plan de pruebas CP01 a CP16 y recopilé las evidencias: los 16 casos se ejecutaron y aprobaron, las 27 pruebas de terraform test pasaron, se validaron las 50 sucursales y no hay secretos en el repositorio. Concluimos que la solución es escalable, que las pruebas sin nube tienen valor real porque detectaron errores, y que siempre separamos lo ejecutado de lo que es diseño. La limitación es que no se probó contra las APIs reales.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6E142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4630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800600"/>
            <a:ext cx="3657600" cy="228600"/>
          </a:xfrm>
          <a:prstGeom prst="rect">
            <a:avLst/>
          </a:prstGeom>
          <a:noFill/>
          <a:ln/>
        </p:spPr>
        <p:txBody>
          <a:bodyPr wrap="square" lIns="0" tIns="0" rIns="0" bIns="0" rtlCol="0" anchor="ctr"/>
          <a:lstStyle/>
          <a:p>
            <a:pPr indent="0" marL="0">
              <a:buNone/>
            </a:pPr>
            <a:r>
              <a:rPr lang="en-US" sz="900" dirty="0">
                <a:solidFill>
                  <a:schemeClr val="accent5"/>
                </a:solidFill>
              </a:rPr>
              <a:t>Servicios Cloud · UTP</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411480"/>
            <a:ext cx="2103120" cy="658368"/>
          </a:xfrm>
          <a:prstGeom prst="roundRect">
            <a:avLst>
              <a:gd name="adj" fmla="val 8333"/>
            </a:avLst>
          </a:prstGeom>
          <a:solidFill>
            <a:srgbClr val="FFFFFF"/>
          </a:solidFill>
          <a:ln w="12700">
            <a:solidFill>
              <a:srgbClr val="FFFFFF"/>
            </a:solidFill>
            <a:prstDash val="solid"/>
          </a:ln>
        </p:spPr>
      </p:sp>
      <p:pic>
        <p:nvPicPr>
          <p:cNvPr id="3" name="Image 0" descr="/tmp/claude-0/-home-claude/01c0e5a6-0dc4-54dc-9bf7-5ed18b053e74/scratchpad/img/logo-utp.png">    </p:cNvPr>
          <p:cNvPicPr>
            <a:picLocks noChangeAspect="1"/>
          </p:cNvPicPr>
          <p:nvPr/>
        </p:nvPicPr>
        <p:blipFill>
          <a:blip r:embed="rId1"/>
          <a:srcRect l="0" r="0" t="0" b="0"/>
          <a:stretch/>
        </p:blipFill>
        <p:spPr>
          <a:xfrm>
            <a:off x="640080" y="475488"/>
            <a:ext cx="1920240" cy="530352"/>
          </a:xfrm>
          <a:prstGeom prst="rect">
            <a:avLst/>
          </a:prstGeom>
        </p:spPr>
      </p:pic>
      <p:sp>
        <p:nvSpPr>
          <p:cNvPr id="4" name="Text 0"/>
          <p:cNvSpPr/>
          <p:nvPr>
            <p:ph idx="100" type="title" hasCustomPrompt="1"/>
          </p:nvPr>
        </p:nvSpPr>
        <p:spPr>
          <a:xfrm>
            <a:off x="548640" y="1417320"/>
            <a:ext cx="8046720" cy="1463040"/>
          </a:xfrm>
          <a:prstGeom prst="rect">
            <a:avLst/>
          </a:prstGeom>
          <a:noFill/>
          <a:ln/>
        </p:spPr>
        <p:txBody>
          <a:bodyPr wrap="square" lIns="0" tIns="0" rIns="0" bIns="0" rtlCol="0" anchor="t"/>
          <a:lstStyle/>
          <a:p>
            <a:pPr algn="l" indent="0" marL="0">
              <a:buNone/>
            </a:pPr>
            <a:r>
              <a:rPr lang="en-US" sz="3200" b="1" dirty="0">
                <a:solidFill>
                  <a:schemeClr val="bg1"/>
                </a:solidFill>
              </a:rPr>
              <a:t>Infraestructura como Código multi-cloud para 50 sucursales con Terraform</a:t>
            </a:r>
            <a:endParaRPr lang="en-US" sz="3200" dirty="0"/>
          </a:p>
        </p:txBody>
      </p:sp>
      <p:sp>
        <p:nvSpPr>
          <p:cNvPr id="5"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l" indent="0" marL="0">
              <a:buNone/>
            </a:pPr>
            <a:r>
              <a:rPr lang="en-US" sz="1600" dirty="0">
                <a:solidFill>
                  <a:schemeClr val="bg2"/>
                </a:solidFill>
              </a:rPr>
              <a:t>Curso Servicios Cloud · Docente: Eleodoro Orbegoso Carrera</a:t>
            </a:r>
            <a:endParaRPr lang="en-US" sz="1600" dirty="0"/>
          </a:p>
        </p:txBody>
      </p:sp>
      <p:sp>
        <p:nvSpPr>
          <p:cNvPr id="6" name="Text 3"/>
          <p:cNvSpPr txBox="1"/>
          <p:nvPr/>
        </p:nvSpPr>
        <p:spPr>
          <a:xfrm>
            <a:off x="548640" y="3977640"/>
            <a:ext cx="8046720" cy="548640"/>
          </a:xfrm>
          <a:prstGeom prst="rect">
            <a:avLst/>
          </a:prstGeom>
          <a:noFill/>
          <a:ln/>
        </p:spPr>
        <p:txBody>
          <a:bodyPr wrap="square" lIns="0" tIns="0" rIns="0" bIns="0" rtlCol="0" anchor="t"/>
          <a:lstStyle/>
          <a:p>
            <a:pPr indent="0" marL="0">
              <a:buNone/>
            </a:pPr>
            <a:r>
              <a:rPr lang="en-US" sz="1200" dirty="0">
                <a:solidFill>
                  <a:srgbClr val="FFFFFF"/>
                </a:solidFill>
              </a:rPr>
              <a:t>Icochea Rodriguez, Thiago · Gonzales Aguilar, Carlos · Huamani Pereira, Eddyson</a:t>
            </a:r>
            <a:endParaRPr lang="en-US" sz="1200" dirty="0"/>
          </a:p>
          <a:p>
            <a:pPr indent="0" marL="0">
              <a:buNone/>
            </a:pPr>
            <a:r>
              <a:rPr lang="en-US" sz="1200" dirty="0">
                <a:solidFill>
                  <a:srgbClr val="FFFFFF"/>
                </a:solidFill>
              </a:rPr>
              <a:t>Remuzgo Tovar, Huber · Quispe Saavedra, Karen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Repartición de tareas del equipo</a:t>
            </a:r>
            <a:endParaRPr lang="en-US" sz="2800" dirty="0"/>
          </a:p>
        </p:txBody>
      </p:sp>
      <p:sp>
        <p:nvSpPr>
          <p:cNvPr id="3" name="Shape 1"/>
          <p:cNvSpPr/>
          <p:nvPr/>
        </p:nvSpPr>
        <p:spPr>
          <a:xfrm>
            <a:off x="457200" y="1051560"/>
            <a:ext cx="8229600" cy="603504"/>
          </a:xfrm>
          <a:prstGeom prst="roundRect">
            <a:avLst>
              <a:gd name="adj" fmla="val 12121"/>
            </a:avLst>
          </a:prstGeom>
          <a:solidFill>
            <a:srgbClr val="F4EFEF"/>
          </a:solidFill>
          <a:ln w="12700">
            <a:solidFill>
              <a:srgbClr val="F4EFEF"/>
            </a:solidFill>
            <a:prstDash val="solid"/>
          </a:ln>
        </p:spPr>
      </p:sp>
      <p:sp>
        <p:nvSpPr>
          <p:cNvPr id="4" name="Shape 2"/>
          <p:cNvSpPr/>
          <p:nvPr/>
        </p:nvSpPr>
        <p:spPr>
          <a:xfrm>
            <a:off x="594360" y="1152144"/>
            <a:ext cx="402336" cy="402336"/>
          </a:xfrm>
          <a:prstGeom prst="ellipse">
            <a:avLst/>
          </a:prstGeom>
          <a:solidFill>
            <a:srgbClr val="6E1423"/>
          </a:solidFill>
          <a:ln w="12700">
            <a:solidFill>
              <a:srgbClr val="6E1423"/>
            </a:solidFill>
            <a:prstDash val="solid"/>
          </a:ln>
        </p:spPr>
      </p:sp>
      <p:sp>
        <p:nvSpPr>
          <p:cNvPr id="5" name="Text 3"/>
          <p:cNvSpPr txBox="1"/>
          <p:nvPr/>
        </p:nvSpPr>
        <p:spPr>
          <a:xfrm>
            <a:off x="594360" y="115214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188720" y="1088136"/>
            <a:ext cx="2377440" cy="530352"/>
          </a:xfrm>
          <a:prstGeom prst="rect">
            <a:avLst/>
          </a:prstGeom>
          <a:noFill/>
          <a:ln/>
        </p:spPr>
        <p:txBody>
          <a:bodyPr wrap="square" lIns="0" tIns="0" rIns="0" bIns="0" rtlCol="0" anchor="ctr"/>
          <a:lstStyle/>
          <a:p>
            <a:pPr indent="0" marL="0">
              <a:buNone/>
            </a:pPr>
            <a:r>
              <a:rPr lang="en-US" sz="1400" b="1" dirty="0">
                <a:solidFill>
                  <a:srgbClr val="1F1F23"/>
                </a:solidFill>
              </a:rPr>
              <a:t>Thiago Icochea</a:t>
            </a:r>
            <a:endParaRPr lang="en-US" sz="1400" dirty="0"/>
          </a:p>
          <a:p>
            <a:pPr indent="0" marL="0">
              <a:buNone/>
            </a:pPr>
            <a:r>
              <a:rPr lang="en-US" sz="1100" dirty="0">
                <a:solidFill>
                  <a:srgbClr val="6E1423"/>
                </a:solidFill>
              </a:rPr>
              <a:t>Coordinador y arquitecto</a:t>
            </a:r>
            <a:endParaRPr lang="en-US" sz="1400" dirty="0"/>
          </a:p>
        </p:txBody>
      </p:sp>
      <p:sp>
        <p:nvSpPr>
          <p:cNvPr id="7" name="Text 5"/>
          <p:cNvSpPr txBox="1"/>
          <p:nvPr/>
        </p:nvSpPr>
        <p:spPr>
          <a:xfrm>
            <a:off x="3657600" y="1088136"/>
            <a:ext cx="4846320" cy="530352"/>
          </a:xfrm>
          <a:prstGeom prst="rect">
            <a:avLst/>
          </a:prstGeom>
          <a:noFill/>
          <a:ln/>
        </p:spPr>
        <p:txBody>
          <a:bodyPr wrap="square" lIns="0" tIns="0" rIns="0" bIns="0" rtlCol="0" anchor="ctr"/>
          <a:lstStyle/>
          <a:p>
            <a:pPr indent="0" marL="0">
              <a:buNone/>
            </a:pPr>
            <a:r>
              <a:rPr lang="en-US" sz="1200" dirty="0">
                <a:solidFill>
                  <a:srgbClr val="5B5F66"/>
                </a:solidFill>
              </a:rPr>
              <a:t>Arquitectura, branch-stack, 50 sucursales, entornos, repositorio</a:t>
            </a:r>
            <a:endParaRPr lang="en-US" sz="1200" dirty="0"/>
          </a:p>
        </p:txBody>
      </p:sp>
      <p:sp>
        <p:nvSpPr>
          <p:cNvPr id="8" name="Shape 6"/>
          <p:cNvSpPr/>
          <p:nvPr/>
        </p:nvSpPr>
        <p:spPr>
          <a:xfrm>
            <a:off x="457200" y="1764792"/>
            <a:ext cx="8229600" cy="603504"/>
          </a:xfrm>
          <a:prstGeom prst="roundRect">
            <a:avLst>
              <a:gd name="adj" fmla="val 12121"/>
            </a:avLst>
          </a:prstGeom>
          <a:solidFill>
            <a:srgbClr val="F4EFEF"/>
          </a:solidFill>
          <a:ln w="12700">
            <a:solidFill>
              <a:srgbClr val="F4EFEF"/>
            </a:solidFill>
            <a:prstDash val="solid"/>
          </a:ln>
        </p:spPr>
      </p:sp>
      <p:sp>
        <p:nvSpPr>
          <p:cNvPr id="9" name="Shape 7"/>
          <p:cNvSpPr/>
          <p:nvPr/>
        </p:nvSpPr>
        <p:spPr>
          <a:xfrm>
            <a:off x="594360" y="1865376"/>
            <a:ext cx="402336" cy="402336"/>
          </a:xfrm>
          <a:prstGeom prst="ellipse">
            <a:avLst/>
          </a:prstGeom>
          <a:solidFill>
            <a:srgbClr val="E07B00"/>
          </a:solidFill>
          <a:ln w="12700">
            <a:solidFill>
              <a:srgbClr val="E07B00"/>
            </a:solidFill>
            <a:prstDash val="solid"/>
          </a:ln>
        </p:spPr>
      </p:sp>
      <p:sp>
        <p:nvSpPr>
          <p:cNvPr id="10" name="Text 8"/>
          <p:cNvSpPr txBox="1"/>
          <p:nvPr/>
        </p:nvSpPr>
        <p:spPr>
          <a:xfrm>
            <a:off x="594360" y="186537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188720" y="1801368"/>
            <a:ext cx="2377440" cy="530352"/>
          </a:xfrm>
          <a:prstGeom prst="rect">
            <a:avLst/>
          </a:prstGeom>
          <a:noFill/>
          <a:ln/>
        </p:spPr>
        <p:txBody>
          <a:bodyPr wrap="square" lIns="0" tIns="0" rIns="0" bIns="0" rtlCol="0" anchor="ctr"/>
          <a:lstStyle/>
          <a:p>
            <a:pPr indent="0" marL="0">
              <a:buNone/>
            </a:pPr>
            <a:r>
              <a:rPr lang="en-US" sz="1400" b="1" dirty="0">
                <a:solidFill>
                  <a:srgbClr val="1F1F23"/>
                </a:solidFill>
              </a:rPr>
              <a:t>Carlos Gonzales</a:t>
            </a:r>
            <a:endParaRPr lang="en-US" sz="1400" dirty="0"/>
          </a:p>
          <a:p>
            <a:pPr indent="0" marL="0">
              <a:buNone/>
            </a:pPr>
            <a:r>
              <a:rPr lang="en-US" sz="1100" dirty="0">
                <a:solidFill>
                  <a:srgbClr val="E07B00"/>
                </a:solidFill>
              </a:rPr>
              <a:t>Infraestructura AWS</a:t>
            </a:r>
            <a:endParaRPr lang="en-US" sz="1400" dirty="0"/>
          </a:p>
        </p:txBody>
      </p:sp>
      <p:sp>
        <p:nvSpPr>
          <p:cNvPr id="12" name="Text 10"/>
          <p:cNvSpPr txBox="1"/>
          <p:nvPr/>
        </p:nvSpPr>
        <p:spPr>
          <a:xfrm>
            <a:off x="3657600" y="1801368"/>
            <a:ext cx="4846320" cy="530352"/>
          </a:xfrm>
          <a:prstGeom prst="rect">
            <a:avLst/>
          </a:prstGeom>
          <a:noFill/>
          <a:ln/>
        </p:spPr>
        <p:txBody>
          <a:bodyPr wrap="square" lIns="0" tIns="0" rIns="0" bIns="0" rtlCol="0" anchor="ctr"/>
          <a:lstStyle/>
          <a:p>
            <a:pPr indent="0" marL="0">
              <a:buNone/>
            </a:pPr>
            <a:r>
              <a:rPr lang="en-US" sz="1200" dirty="0">
                <a:solidFill>
                  <a:srgbClr val="5B5F66"/>
                </a:solidFill>
              </a:rPr>
              <a:t>Módulos aws/network, compute, security, monitoring + pruebas</a:t>
            </a:r>
            <a:endParaRPr lang="en-US" sz="1200" dirty="0"/>
          </a:p>
        </p:txBody>
      </p:sp>
      <p:sp>
        <p:nvSpPr>
          <p:cNvPr id="13" name="Shape 11"/>
          <p:cNvSpPr/>
          <p:nvPr/>
        </p:nvSpPr>
        <p:spPr>
          <a:xfrm>
            <a:off x="457200" y="2478024"/>
            <a:ext cx="8229600" cy="603504"/>
          </a:xfrm>
          <a:prstGeom prst="roundRect">
            <a:avLst>
              <a:gd name="adj" fmla="val 12121"/>
            </a:avLst>
          </a:prstGeom>
          <a:solidFill>
            <a:srgbClr val="F4EFEF"/>
          </a:solidFill>
          <a:ln w="12700">
            <a:solidFill>
              <a:srgbClr val="F4EFEF"/>
            </a:solidFill>
            <a:prstDash val="solid"/>
          </a:ln>
        </p:spPr>
      </p:sp>
      <p:sp>
        <p:nvSpPr>
          <p:cNvPr id="14" name="Shape 12"/>
          <p:cNvSpPr/>
          <p:nvPr/>
        </p:nvSpPr>
        <p:spPr>
          <a:xfrm>
            <a:off x="594360" y="2578608"/>
            <a:ext cx="402336" cy="402336"/>
          </a:xfrm>
          <a:prstGeom prst="ellipse">
            <a:avLst/>
          </a:prstGeom>
          <a:solidFill>
            <a:srgbClr val="1A73E8"/>
          </a:solidFill>
          <a:ln w="12700">
            <a:solidFill>
              <a:srgbClr val="1A73E8"/>
            </a:solidFill>
            <a:prstDash val="solid"/>
          </a:ln>
        </p:spPr>
      </p:sp>
      <p:sp>
        <p:nvSpPr>
          <p:cNvPr id="15" name="Text 13"/>
          <p:cNvSpPr txBox="1"/>
          <p:nvPr/>
        </p:nvSpPr>
        <p:spPr>
          <a:xfrm>
            <a:off x="594360" y="257860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4"/>
          <p:cNvSpPr txBox="1"/>
          <p:nvPr/>
        </p:nvSpPr>
        <p:spPr>
          <a:xfrm>
            <a:off x="1188720" y="2514600"/>
            <a:ext cx="2377440" cy="530352"/>
          </a:xfrm>
          <a:prstGeom prst="rect">
            <a:avLst/>
          </a:prstGeom>
          <a:noFill/>
          <a:ln/>
        </p:spPr>
        <p:txBody>
          <a:bodyPr wrap="square" lIns="0" tIns="0" rIns="0" bIns="0" rtlCol="0" anchor="ctr"/>
          <a:lstStyle/>
          <a:p>
            <a:pPr indent="0" marL="0">
              <a:buNone/>
            </a:pPr>
            <a:r>
              <a:rPr lang="en-US" sz="1400" b="1" dirty="0">
                <a:solidFill>
                  <a:srgbClr val="1F1F23"/>
                </a:solidFill>
              </a:rPr>
              <a:t>Eddyson Huamani</a:t>
            </a:r>
            <a:endParaRPr lang="en-US" sz="1400" dirty="0"/>
          </a:p>
          <a:p>
            <a:pPr indent="0" marL="0">
              <a:buNone/>
            </a:pPr>
            <a:r>
              <a:rPr lang="en-US" sz="1100" dirty="0">
                <a:solidFill>
                  <a:srgbClr val="1A73E8"/>
                </a:solidFill>
              </a:rPr>
              <a:t>Infraestructura GCP</a:t>
            </a:r>
            <a:endParaRPr lang="en-US" sz="1400" dirty="0"/>
          </a:p>
        </p:txBody>
      </p:sp>
      <p:sp>
        <p:nvSpPr>
          <p:cNvPr id="17" name="Text 15"/>
          <p:cNvSpPr txBox="1"/>
          <p:nvPr/>
        </p:nvSpPr>
        <p:spPr>
          <a:xfrm>
            <a:off x="3657600" y="2514600"/>
            <a:ext cx="4846320" cy="530352"/>
          </a:xfrm>
          <a:prstGeom prst="rect">
            <a:avLst/>
          </a:prstGeom>
          <a:noFill/>
          <a:ln/>
        </p:spPr>
        <p:txBody>
          <a:bodyPr wrap="square" lIns="0" tIns="0" rIns="0" bIns="0" rtlCol="0" anchor="ctr"/>
          <a:lstStyle/>
          <a:p>
            <a:pPr indent="0" marL="0">
              <a:buNone/>
            </a:pPr>
            <a:r>
              <a:rPr lang="en-US" sz="1200" dirty="0">
                <a:solidFill>
                  <a:srgbClr val="5B5F66"/>
                </a:solidFill>
              </a:rPr>
              <a:t>Módulos gcp/network, compute, security, monitoring + pruebas</a:t>
            </a:r>
            <a:endParaRPr lang="en-US" sz="1200" dirty="0"/>
          </a:p>
        </p:txBody>
      </p:sp>
      <p:sp>
        <p:nvSpPr>
          <p:cNvPr id="18" name="Shape 16"/>
          <p:cNvSpPr/>
          <p:nvPr/>
        </p:nvSpPr>
        <p:spPr>
          <a:xfrm>
            <a:off x="457200" y="3191256"/>
            <a:ext cx="8229600" cy="603504"/>
          </a:xfrm>
          <a:prstGeom prst="roundRect">
            <a:avLst>
              <a:gd name="adj" fmla="val 12121"/>
            </a:avLst>
          </a:prstGeom>
          <a:solidFill>
            <a:srgbClr val="F4EFEF"/>
          </a:solidFill>
          <a:ln w="12700">
            <a:solidFill>
              <a:srgbClr val="F4EFEF"/>
            </a:solidFill>
            <a:prstDash val="solid"/>
          </a:ln>
        </p:spPr>
      </p:sp>
      <p:sp>
        <p:nvSpPr>
          <p:cNvPr id="19" name="Shape 17"/>
          <p:cNvSpPr/>
          <p:nvPr/>
        </p:nvSpPr>
        <p:spPr>
          <a:xfrm>
            <a:off x="594360" y="3291840"/>
            <a:ext cx="402336" cy="402336"/>
          </a:xfrm>
          <a:prstGeom prst="ellipse">
            <a:avLst/>
          </a:prstGeom>
          <a:solidFill>
            <a:srgbClr val="2E7D4F"/>
          </a:solidFill>
          <a:ln w="12700">
            <a:solidFill>
              <a:srgbClr val="2E7D4F"/>
            </a:solidFill>
            <a:prstDash val="solid"/>
          </a:ln>
        </p:spPr>
      </p:sp>
      <p:sp>
        <p:nvSpPr>
          <p:cNvPr id="20" name="Text 18"/>
          <p:cNvSpPr txBox="1"/>
          <p:nvPr/>
        </p:nvSpPr>
        <p:spPr>
          <a:xfrm>
            <a:off x="594360" y="329184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1" name="Text 19"/>
          <p:cNvSpPr txBox="1"/>
          <p:nvPr/>
        </p:nvSpPr>
        <p:spPr>
          <a:xfrm>
            <a:off x="1188720" y="3227832"/>
            <a:ext cx="2377440" cy="530352"/>
          </a:xfrm>
          <a:prstGeom prst="rect">
            <a:avLst/>
          </a:prstGeom>
          <a:noFill/>
          <a:ln/>
        </p:spPr>
        <p:txBody>
          <a:bodyPr wrap="square" lIns="0" tIns="0" rIns="0" bIns="0" rtlCol="0" anchor="ctr"/>
          <a:lstStyle/>
          <a:p>
            <a:pPr indent="0" marL="0">
              <a:buNone/>
            </a:pPr>
            <a:r>
              <a:rPr lang="en-US" sz="1400" b="1" dirty="0">
                <a:solidFill>
                  <a:srgbClr val="1F1F23"/>
                </a:solidFill>
              </a:rPr>
              <a:t>Huber Remuzgo</a:t>
            </a:r>
            <a:endParaRPr lang="en-US" sz="1400" dirty="0"/>
          </a:p>
          <a:p>
            <a:pPr indent="0" marL="0">
              <a:buNone/>
            </a:pPr>
            <a:r>
              <a:rPr lang="en-US" sz="1100" dirty="0">
                <a:solidFill>
                  <a:srgbClr val="2E7D4F"/>
                </a:solidFill>
              </a:rPr>
              <a:t>CI/CD y seguridad</a:t>
            </a:r>
            <a:endParaRPr lang="en-US" sz="1400" dirty="0"/>
          </a:p>
        </p:txBody>
      </p:sp>
      <p:sp>
        <p:nvSpPr>
          <p:cNvPr id="22" name="Text 20"/>
          <p:cNvSpPr txBox="1"/>
          <p:nvPr/>
        </p:nvSpPr>
        <p:spPr>
          <a:xfrm>
            <a:off x="3657600" y="3227832"/>
            <a:ext cx="4846320" cy="530352"/>
          </a:xfrm>
          <a:prstGeom prst="rect">
            <a:avLst/>
          </a:prstGeom>
          <a:noFill/>
          <a:ln/>
        </p:spPr>
        <p:txBody>
          <a:bodyPr wrap="square" lIns="0" tIns="0" rIns="0" bIns="0" rtlCol="0" anchor="ctr"/>
          <a:lstStyle/>
          <a:p>
            <a:pPr indent="0" marL="0">
              <a:buNone/>
            </a:pPr>
            <a:r>
              <a:rPr lang="en-US" sz="1200" dirty="0">
                <a:solidFill>
                  <a:srgbClr val="5B5F66"/>
                </a:solidFill>
              </a:rPr>
              <a:t>GitHub Actions, TFLint, Checkov, gitleaks, laboratorio Docker</a:t>
            </a:r>
            <a:endParaRPr lang="en-US" sz="1200" dirty="0"/>
          </a:p>
        </p:txBody>
      </p:sp>
      <p:sp>
        <p:nvSpPr>
          <p:cNvPr id="23" name="Shape 21"/>
          <p:cNvSpPr/>
          <p:nvPr/>
        </p:nvSpPr>
        <p:spPr>
          <a:xfrm>
            <a:off x="457200" y="3904488"/>
            <a:ext cx="8229600" cy="603504"/>
          </a:xfrm>
          <a:prstGeom prst="roundRect">
            <a:avLst>
              <a:gd name="adj" fmla="val 12121"/>
            </a:avLst>
          </a:prstGeom>
          <a:solidFill>
            <a:srgbClr val="F4EFEF"/>
          </a:solidFill>
          <a:ln w="12700">
            <a:solidFill>
              <a:srgbClr val="F4EFEF"/>
            </a:solidFill>
            <a:prstDash val="solid"/>
          </a:ln>
        </p:spPr>
      </p:sp>
      <p:sp>
        <p:nvSpPr>
          <p:cNvPr id="24" name="Shape 22"/>
          <p:cNvSpPr/>
          <p:nvPr/>
        </p:nvSpPr>
        <p:spPr>
          <a:xfrm>
            <a:off x="594360" y="4005072"/>
            <a:ext cx="402336" cy="402336"/>
          </a:xfrm>
          <a:prstGeom prst="ellipse">
            <a:avLst/>
          </a:prstGeom>
          <a:solidFill>
            <a:srgbClr val="B5162B"/>
          </a:solidFill>
          <a:ln w="12700">
            <a:solidFill>
              <a:srgbClr val="B5162B"/>
            </a:solidFill>
            <a:prstDash val="solid"/>
          </a:ln>
        </p:spPr>
      </p:sp>
      <p:sp>
        <p:nvSpPr>
          <p:cNvPr id="25" name="Text 23"/>
          <p:cNvSpPr txBox="1"/>
          <p:nvPr/>
        </p:nvSpPr>
        <p:spPr>
          <a:xfrm>
            <a:off x="594360" y="400507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6" name="Text 24"/>
          <p:cNvSpPr txBox="1"/>
          <p:nvPr/>
        </p:nvSpPr>
        <p:spPr>
          <a:xfrm>
            <a:off x="1188720" y="3941064"/>
            <a:ext cx="2377440" cy="530352"/>
          </a:xfrm>
          <a:prstGeom prst="rect">
            <a:avLst/>
          </a:prstGeom>
          <a:noFill/>
          <a:ln/>
        </p:spPr>
        <p:txBody>
          <a:bodyPr wrap="square" lIns="0" tIns="0" rIns="0" bIns="0" rtlCol="0" anchor="ctr"/>
          <a:lstStyle/>
          <a:p>
            <a:pPr indent="0" marL="0">
              <a:buNone/>
            </a:pPr>
            <a:r>
              <a:rPr lang="en-US" sz="1400" b="1" dirty="0">
                <a:solidFill>
                  <a:srgbClr val="1F1F23"/>
                </a:solidFill>
              </a:rPr>
              <a:t>Karen Quispe</a:t>
            </a:r>
            <a:endParaRPr lang="en-US" sz="1400" dirty="0"/>
          </a:p>
          <a:p>
            <a:pPr indent="0" marL="0">
              <a:buNone/>
            </a:pPr>
            <a:r>
              <a:rPr lang="en-US" sz="1100" dirty="0">
                <a:solidFill>
                  <a:srgbClr val="B5162B"/>
                </a:solidFill>
              </a:rPr>
              <a:t>State, Drift y pruebas</a:t>
            </a:r>
            <a:endParaRPr lang="en-US" sz="1400" dirty="0"/>
          </a:p>
        </p:txBody>
      </p:sp>
      <p:sp>
        <p:nvSpPr>
          <p:cNvPr id="27" name="Text 25"/>
          <p:cNvSpPr txBox="1"/>
          <p:nvPr/>
        </p:nvSpPr>
        <p:spPr>
          <a:xfrm>
            <a:off x="3657600" y="3941064"/>
            <a:ext cx="4846320" cy="530352"/>
          </a:xfrm>
          <a:prstGeom prst="rect">
            <a:avLst/>
          </a:prstGeom>
          <a:noFill/>
          <a:ln/>
        </p:spPr>
        <p:txBody>
          <a:bodyPr wrap="square" lIns="0" tIns="0" rIns="0" bIns="0" rtlCol="0" anchor="ctr"/>
          <a:lstStyle/>
          <a:p>
            <a:pPr indent="0" marL="0">
              <a:buNone/>
            </a:pPr>
            <a:r>
              <a:rPr lang="en-US" sz="1200" dirty="0">
                <a:solidFill>
                  <a:srgbClr val="5B5F66"/>
                </a:solidFill>
              </a:rPr>
              <a:t>Laboratorios State y Drift, monitoreo, plan de pruebas CP01-CP16</a:t>
            </a:r>
            <a:endParaRPr lang="en-US" sz="1200" dirty="0"/>
          </a:p>
        </p:txBody>
      </p:sp>
      <p:sp>
        <p:nvSpPr>
          <p:cNvPr id="28" name="Expositor"/>
          <p:cNvSpPr/>
          <p:nvPr/>
        </p:nvSpPr>
        <p:spPr>
          <a:xfrm>
            <a:off x="5989320" y="4736592"/>
            <a:ext cx="2240280" cy="292608"/>
          </a:xfrm>
          <a:prstGeom prst="roundRect">
            <a:avLst>
              <a:gd name="adj" fmla="val 50000"/>
            </a:avLst>
          </a:prstGeom>
          <a:solidFill>
            <a:srgbClr val="6E1423"/>
          </a:solidFill>
          <a:ln w="12700">
            <a:solidFill>
              <a:srgbClr val="6E1423"/>
            </a:solidFill>
            <a:prstDash val="solid"/>
          </a:ln>
        </p:spPr>
      </p:sp>
      <p:sp>
        <p:nvSpPr>
          <p:cNvPr id="29"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Thiago Icochea</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Un patrón común descrito como datos, no como código</a:t>
            </a:r>
            <a:endParaRPr lang="en-US" sz="2800" dirty="0"/>
          </a:p>
        </p:txBody>
      </p:sp>
      <p:pic>
        <p:nvPicPr>
          <p:cNvPr id="3" name="Image 0" descr="/tmp/claude-0/-home-claude/01c0e5a6-0dc4-54dc-9bf7-5ed18b053e74/scratchpad/img/fig-01-arquitectura-general.png">    </p:cNvPr>
          <p:cNvPicPr>
            <a:picLocks noChangeAspect="1"/>
          </p:cNvPicPr>
          <p:nvPr/>
        </p:nvPicPr>
        <p:blipFill>
          <a:blip r:embed="rId1"/>
          <a:stretch>
            <a:fillRect/>
          </a:stretch>
        </p:blipFill>
        <p:spPr>
          <a:xfrm>
            <a:off x="457200" y="1294991"/>
            <a:ext cx="4572000" cy="3033577"/>
          </a:xfrm>
          <a:prstGeom prst="rect">
            <a:avLst/>
          </a:prstGeom>
        </p:spPr>
      </p:pic>
      <p:sp>
        <p:nvSpPr>
          <p:cNvPr id="4" name="Text 1"/>
          <p:cNvSpPr txBox="1"/>
          <p:nvPr/>
        </p:nvSpPr>
        <p:spPr>
          <a:xfrm>
            <a:off x="5257800" y="1051560"/>
            <a:ext cx="3429000" cy="356616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6E1423"/>
                </a:solidFill>
              </a:rPr>
              <a:t>Problema:</a:t>
            </a:r>
            <a:pPr indent="0" marL="0">
              <a:spcAft>
                <a:spcPts val="800"/>
              </a:spcAft>
              <a:buNone/>
            </a:pPr>
            <a:r>
              <a:rPr lang="en-US" sz="1300" dirty="0">
                <a:solidFill>
                  <a:srgbClr val="1F1F23"/>
                </a:solidFill>
              </a:rPr>
              <a:t> 50 sucursales configuradas a mano son propensas a errores y difíciles de auditar.</a:t>
            </a:r>
            <a:endParaRPr lang="en-US" sz="1300" dirty="0"/>
          </a:p>
          <a:p>
            <a:pPr marL="342900" indent="-342900">
              <a:spcAft>
                <a:spcPts val="800"/>
              </a:spcAft>
              <a:buSzPct val="100000"/>
              <a:buChar char="•"/>
            </a:pPr>
            <a:r>
              <a:rPr lang="en-US" sz="1300" b="1" dirty="0">
                <a:solidFill>
                  <a:srgbClr val="6E1423"/>
                </a:solidFill>
              </a:rPr>
              <a:t>Datos:</a:t>
            </a:r>
            <a:pPr indent="0" marL="0">
              <a:spcAft>
                <a:spcPts val="800"/>
              </a:spcAft>
              <a:buNone/>
            </a:pPr>
            <a:r>
              <a:rPr lang="en-US" sz="1300" dirty="0">
                <a:solidFill>
                  <a:srgbClr val="1F1F23"/>
                </a:solidFill>
              </a:rPr>
              <a:t> branches.yaml define las 50 sucursales (25 AWS / 25 GCP).</a:t>
            </a:r>
            <a:endParaRPr lang="en-US" sz="1300" dirty="0"/>
          </a:p>
          <a:p>
            <a:pPr marL="342900" indent="-342900">
              <a:spcAft>
                <a:spcPts val="800"/>
              </a:spcAft>
              <a:buSzPct val="100000"/>
              <a:buChar char="•"/>
            </a:pPr>
            <a:r>
              <a:rPr lang="en-US" sz="1300" b="1" dirty="0">
                <a:solidFill>
                  <a:srgbClr val="6E1423"/>
                </a:solidFill>
              </a:rPr>
              <a:t>Orquestador:</a:t>
            </a:r>
            <a:pPr indent="0" marL="0">
              <a:spcAft>
                <a:spcPts val="800"/>
              </a:spcAft>
              <a:buNone/>
            </a:pPr>
            <a:r>
              <a:rPr lang="en-US" sz="1300" dirty="0">
                <a:solidFill>
                  <a:srgbClr val="1F1F23"/>
                </a:solidFill>
              </a:rPr>
              <a:t> branch-stack aplica red, 2 servidores, seguridad y monitoreo por sucursal.</a:t>
            </a:r>
            <a:endParaRPr lang="en-US" sz="1300" dirty="0"/>
          </a:p>
          <a:p>
            <a:pPr marL="342900" indent="-342900">
              <a:spcAft>
                <a:spcPts val="800"/>
              </a:spcAft>
              <a:buSzPct val="100000"/>
              <a:buChar char="•"/>
            </a:pPr>
            <a:r>
              <a:rPr lang="en-US" sz="1300" b="1" dirty="0">
                <a:solidFill>
                  <a:srgbClr val="6E1423"/>
                </a:solidFill>
              </a:rPr>
              <a:t>Entornos:</a:t>
            </a:r>
            <a:pPr indent="0" marL="0">
              <a:spcAft>
                <a:spcPts val="800"/>
              </a:spcAft>
              <a:buNone/>
            </a:pPr>
            <a:r>
              <a:rPr lang="en-US" sz="1300" dirty="0">
                <a:solidFill>
                  <a:srgbClr val="1F1F23"/>
                </a:solidFill>
              </a:rPr>
              <a:t> production 40 · staging 6 · development 4, cada uno con su propio state.</a:t>
            </a:r>
            <a:endParaRPr lang="en-US" sz="1300" dirty="0"/>
          </a:p>
          <a:p>
            <a:pPr marL="342900" indent="-342900">
              <a:spcAft>
                <a:spcPts val="800"/>
              </a:spcAft>
              <a:buSzPct val="100000"/>
              <a:buChar char="•"/>
            </a:pPr>
            <a:r>
              <a:rPr lang="en-US" sz="1300" b="1" dirty="0">
                <a:solidFill>
                  <a:srgbClr val="6E1423"/>
                </a:solidFill>
              </a:rPr>
              <a:t>Restricción:</a:t>
            </a:r>
            <a:pPr indent="0" marL="0">
              <a:spcAft>
                <a:spcPts val="800"/>
              </a:spcAft>
              <a:buNone/>
            </a:pPr>
            <a:r>
              <a:rPr lang="en-US" sz="1300" dirty="0">
                <a:solidFill>
                  <a:srgbClr val="1F1F23"/>
                </a:solidFill>
              </a:rPr>
              <a:t> sin credenciales cloud; todo se valida con pruebas y laboratorios locales.</a:t>
            </a:r>
            <a:endParaRPr lang="en-US" sz="1300" dirty="0"/>
          </a:p>
        </p:txBody>
      </p:sp>
      <p:sp>
        <p:nvSpPr>
          <p:cNvPr id="5" name="Expositor"/>
          <p:cNvSpPr/>
          <p:nvPr/>
        </p:nvSpPr>
        <p:spPr>
          <a:xfrm>
            <a:off x="5989320" y="4736592"/>
            <a:ext cx="2240280" cy="292608"/>
          </a:xfrm>
          <a:prstGeom prst="roundRect">
            <a:avLst>
              <a:gd name="adj" fmla="val 50000"/>
            </a:avLst>
          </a:prstGeom>
          <a:solidFill>
            <a:srgbClr val="6E1423"/>
          </a:solidFill>
          <a:ln w="12700">
            <a:solidFill>
              <a:srgbClr val="6E1423"/>
            </a:solidFill>
            <a:prstDash val="solid"/>
          </a:ln>
        </p:spPr>
      </p:sp>
      <p:sp>
        <p:nvSpPr>
          <p:cNvPr id="6"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Thiago Icochea</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AWS: una VPC aislada por sucursal</a:t>
            </a:r>
            <a:endParaRPr lang="en-US" sz="2800" dirty="0"/>
          </a:p>
        </p:txBody>
      </p:sp>
      <p:pic>
        <p:nvPicPr>
          <p:cNvPr id="3" name="Image 0" descr="/tmp/claude-0/-home-claude/01c0e5a6-0dc4-54dc-9bf7-5ed18b053e74/scratchpad/img/fig-02-arquitectura-aws.png">    </p:cNvPr>
          <p:cNvPicPr>
            <a:picLocks noChangeAspect="1"/>
          </p:cNvPicPr>
          <p:nvPr/>
        </p:nvPicPr>
        <p:blipFill>
          <a:blip r:embed="rId1"/>
          <a:stretch>
            <a:fillRect/>
          </a:stretch>
        </p:blipFill>
        <p:spPr>
          <a:xfrm>
            <a:off x="457200" y="1019803"/>
            <a:ext cx="5120640" cy="2669553"/>
          </a:xfrm>
          <a:prstGeom prst="rect">
            <a:avLst/>
          </a:prstGeom>
        </p:spPr>
      </p:pic>
      <p:sp>
        <p:nvSpPr>
          <p:cNvPr id="4" name="Shape 1"/>
          <p:cNvSpPr/>
          <p:nvPr/>
        </p:nvSpPr>
        <p:spPr>
          <a:xfrm>
            <a:off x="5852160" y="1005840"/>
            <a:ext cx="1325880" cy="868680"/>
          </a:xfrm>
          <a:prstGeom prst="roundRect">
            <a:avLst>
              <a:gd name="adj" fmla="val 8421"/>
            </a:avLst>
          </a:prstGeom>
          <a:solidFill>
            <a:srgbClr val="F4EFEF"/>
          </a:solidFill>
          <a:ln w="12700">
            <a:solidFill>
              <a:srgbClr val="F4EFEF"/>
            </a:solidFill>
            <a:prstDash val="solid"/>
          </a:ln>
        </p:spPr>
      </p:sp>
      <p:sp>
        <p:nvSpPr>
          <p:cNvPr id="5" name="Text 2"/>
          <p:cNvSpPr txBox="1"/>
          <p:nvPr/>
        </p:nvSpPr>
        <p:spPr>
          <a:xfrm>
            <a:off x="5852160" y="1051560"/>
            <a:ext cx="1325880" cy="502920"/>
          </a:xfrm>
          <a:prstGeom prst="rect">
            <a:avLst/>
          </a:prstGeom>
          <a:noFill/>
          <a:ln/>
        </p:spPr>
        <p:txBody>
          <a:bodyPr wrap="square" lIns="0" tIns="0" rIns="0" bIns="0" rtlCol="0" anchor="ctr"/>
          <a:lstStyle/>
          <a:p>
            <a:pPr algn="ctr" indent="0" marL="0">
              <a:buNone/>
            </a:pPr>
            <a:r>
              <a:rPr lang="en-US" sz="2800" b="1" dirty="0">
                <a:solidFill>
                  <a:srgbClr val="E07B00"/>
                </a:solidFill>
              </a:rPr>
              <a:t>25</a:t>
            </a:r>
            <a:endParaRPr lang="en-US" sz="2800" dirty="0"/>
          </a:p>
        </p:txBody>
      </p:sp>
      <p:sp>
        <p:nvSpPr>
          <p:cNvPr id="6" name="Text 3"/>
          <p:cNvSpPr txBox="1"/>
          <p:nvPr/>
        </p:nvSpPr>
        <p:spPr>
          <a:xfrm>
            <a:off x="5852160" y="1536192"/>
            <a:ext cx="1325880" cy="292608"/>
          </a:xfrm>
          <a:prstGeom prst="rect">
            <a:avLst/>
          </a:prstGeom>
          <a:noFill/>
          <a:ln/>
        </p:spPr>
        <p:txBody>
          <a:bodyPr wrap="square" lIns="0" tIns="0" rIns="0" bIns="0" rtlCol="0" anchor="t"/>
          <a:lstStyle/>
          <a:p>
            <a:pPr algn="ctr" indent="0" marL="0">
              <a:buNone/>
            </a:pPr>
            <a:r>
              <a:rPr lang="en-US" sz="1100" dirty="0">
                <a:solidFill>
                  <a:srgbClr val="5B5F66"/>
                </a:solidFill>
              </a:rPr>
              <a:t>VPC independientes</a:t>
            </a:r>
            <a:endParaRPr lang="en-US" sz="1100" dirty="0"/>
          </a:p>
        </p:txBody>
      </p:sp>
      <p:sp>
        <p:nvSpPr>
          <p:cNvPr id="7" name="Shape 4"/>
          <p:cNvSpPr/>
          <p:nvPr/>
        </p:nvSpPr>
        <p:spPr>
          <a:xfrm>
            <a:off x="7360920" y="1005840"/>
            <a:ext cx="1325880" cy="868680"/>
          </a:xfrm>
          <a:prstGeom prst="roundRect">
            <a:avLst>
              <a:gd name="adj" fmla="val 8421"/>
            </a:avLst>
          </a:prstGeom>
          <a:solidFill>
            <a:srgbClr val="F4EFEF"/>
          </a:solidFill>
          <a:ln w="12700">
            <a:solidFill>
              <a:srgbClr val="F4EFEF"/>
            </a:solidFill>
            <a:prstDash val="solid"/>
          </a:ln>
        </p:spPr>
      </p:sp>
      <p:sp>
        <p:nvSpPr>
          <p:cNvPr id="8" name="Text 5"/>
          <p:cNvSpPr txBox="1"/>
          <p:nvPr/>
        </p:nvSpPr>
        <p:spPr>
          <a:xfrm>
            <a:off x="7360920" y="1051560"/>
            <a:ext cx="1325880" cy="502920"/>
          </a:xfrm>
          <a:prstGeom prst="rect">
            <a:avLst/>
          </a:prstGeom>
          <a:noFill/>
          <a:ln/>
        </p:spPr>
        <p:txBody>
          <a:bodyPr wrap="square" lIns="0" tIns="0" rIns="0" bIns="0" rtlCol="0" anchor="ctr"/>
          <a:lstStyle/>
          <a:p>
            <a:pPr algn="ctr" indent="0" marL="0">
              <a:buNone/>
            </a:pPr>
            <a:r>
              <a:rPr lang="en-US" sz="2800" b="1" dirty="0">
                <a:solidFill>
                  <a:srgbClr val="E07B00"/>
                </a:solidFill>
              </a:rPr>
              <a:t>50</a:t>
            </a:r>
            <a:endParaRPr lang="en-US" sz="2800" dirty="0"/>
          </a:p>
        </p:txBody>
      </p:sp>
      <p:sp>
        <p:nvSpPr>
          <p:cNvPr id="9" name="Text 6"/>
          <p:cNvSpPr txBox="1"/>
          <p:nvPr/>
        </p:nvSpPr>
        <p:spPr>
          <a:xfrm>
            <a:off x="7360920" y="1536192"/>
            <a:ext cx="1325880" cy="292608"/>
          </a:xfrm>
          <a:prstGeom prst="rect">
            <a:avLst/>
          </a:prstGeom>
          <a:noFill/>
          <a:ln/>
        </p:spPr>
        <p:txBody>
          <a:bodyPr wrap="square" lIns="0" tIns="0" rIns="0" bIns="0" rtlCol="0" anchor="t"/>
          <a:lstStyle/>
          <a:p>
            <a:pPr algn="ctr" indent="0" marL="0">
              <a:buNone/>
            </a:pPr>
            <a:r>
              <a:rPr lang="en-US" sz="1100" dirty="0">
                <a:solidFill>
                  <a:srgbClr val="5B5F66"/>
                </a:solidFill>
              </a:rPr>
              <a:t>instancias EC2</a:t>
            </a:r>
            <a:endParaRPr lang="en-US" sz="1100" dirty="0"/>
          </a:p>
        </p:txBody>
      </p:sp>
      <p:sp>
        <p:nvSpPr>
          <p:cNvPr id="10" name="Shape 7"/>
          <p:cNvSpPr/>
          <p:nvPr/>
        </p:nvSpPr>
        <p:spPr>
          <a:xfrm>
            <a:off x="5852160" y="2011680"/>
            <a:ext cx="1325880" cy="868680"/>
          </a:xfrm>
          <a:prstGeom prst="roundRect">
            <a:avLst>
              <a:gd name="adj" fmla="val 8421"/>
            </a:avLst>
          </a:prstGeom>
          <a:solidFill>
            <a:srgbClr val="F4EFEF"/>
          </a:solidFill>
          <a:ln w="12700">
            <a:solidFill>
              <a:srgbClr val="F4EFEF"/>
            </a:solidFill>
            <a:prstDash val="solid"/>
          </a:ln>
        </p:spPr>
      </p:sp>
      <p:sp>
        <p:nvSpPr>
          <p:cNvPr id="11" name="Text 8"/>
          <p:cNvSpPr txBox="1"/>
          <p:nvPr/>
        </p:nvSpPr>
        <p:spPr>
          <a:xfrm>
            <a:off x="5852160" y="2057400"/>
            <a:ext cx="1325880" cy="502920"/>
          </a:xfrm>
          <a:prstGeom prst="rect">
            <a:avLst/>
          </a:prstGeom>
          <a:noFill/>
          <a:ln/>
        </p:spPr>
        <p:txBody>
          <a:bodyPr wrap="square" lIns="0" tIns="0" rIns="0" bIns="0" rtlCol="0" anchor="ctr"/>
          <a:lstStyle/>
          <a:p>
            <a:pPr algn="ctr" indent="0" marL="0">
              <a:buNone/>
            </a:pPr>
            <a:r>
              <a:rPr lang="en-US" sz="2800" b="1" dirty="0">
                <a:solidFill>
                  <a:srgbClr val="E07B00"/>
                </a:solidFill>
              </a:rPr>
              <a:t>75</a:t>
            </a:r>
            <a:endParaRPr lang="en-US" sz="2800" dirty="0"/>
          </a:p>
        </p:txBody>
      </p:sp>
      <p:sp>
        <p:nvSpPr>
          <p:cNvPr id="12" name="Text 9"/>
          <p:cNvSpPr txBox="1"/>
          <p:nvPr/>
        </p:nvSpPr>
        <p:spPr>
          <a:xfrm>
            <a:off x="5852160" y="2542032"/>
            <a:ext cx="1325880" cy="292608"/>
          </a:xfrm>
          <a:prstGeom prst="rect">
            <a:avLst/>
          </a:prstGeom>
          <a:noFill/>
          <a:ln/>
        </p:spPr>
        <p:txBody>
          <a:bodyPr wrap="square" lIns="0" tIns="0" rIns="0" bIns="0" rtlCol="0" anchor="t"/>
          <a:lstStyle/>
          <a:p>
            <a:pPr algn="ctr" indent="0" marL="0">
              <a:buNone/>
            </a:pPr>
            <a:r>
              <a:rPr lang="en-US" sz="1100" dirty="0">
                <a:solidFill>
                  <a:srgbClr val="5B5F66"/>
                </a:solidFill>
              </a:rPr>
              <a:t>reglas de SG</a:t>
            </a:r>
            <a:endParaRPr lang="en-US" sz="1100" dirty="0"/>
          </a:p>
        </p:txBody>
      </p:sp>
      <p:sp>
        <p:nvSpPr>
          <p:cNvPr id="13" name="Shape 10"/>
          <p:cNvSpPr/>
          <p:nvPr/>
        </p:nvSpPr>
        <p:spPr>
          <a:xfrm>
            <a:off x="7360920" y="2011680"/>
            <a:ext cx="1325880" cy="868680"/>
          </a:xfrm>
          <a:prstGeom prst="roundRect">
            <a:avLst>
              <a:gd name="adj" fmla="val 8421"/>
            </a:avLst>
          </a:prstGeom>
          <a:solidFill>
            <a:srgbClr val="F4EFEF"/>
          </a:solidFill>
          <a:ln w="12700">
            <a:solidFill>
              <a:srgbClr val="F4EFEF"/>
            </a:solidFill>
            <a:prstDash val="solid"/>
          </a:ln>
        </p:spPr>
      </p:sp>
      <p:sp>
        <p:nvSpPr>
          <p:cNvPr id="14" name="Text 11"/>
          <p:cNvSpPr txBox="1"/>
          <p:nvPr/>
        </p:nvSpPr>
        <p:spPr>
          <a:xfrm>
            <a:off x="7360920" y="2057400"/>
            <a:ext cx="1325880" cy="502920"/>
          </a:xfrm>
          <a:prstGeom prst="rect">
            <a:avLst/>
          </a:prstGeom>
          <a:noFill/>
          <a:ln/>
        </p:spPr>
        <p:txBody>
          <a:bodyPr wrap="square" lIns="0" tIns="0" rIns="0" bIns="0" rtlCol="0" anchor="ctr"/>
          <a:lstStyle/>
          <a:p>
            <a:pPr algn="ctr" indent="0" marL="0">
              <a:buNone/>
            </a:pPr>
            <a:r>
              <a:rPr lang="en-US" sz="2800" b="1" dirty="0">
                <a:solidFill>
                  <a:srgbClr val="E07B00"/>
                </a:solidFill>
              </a:rPr>
              <a:t>50</a:t>
            </a:r>
            <a:endParaRPr lang="en-US" sz="2800" dirty="0"/>
          </a:p>
        </p:txBody>
      </p:sp>
      <p:sp>
        <p:nvSpPr>
          <p:cNvPr id="15" name="Text 12"/>
          <p:cNvSpPr txBox="1"/>
          <p:nvPr/>
        </p:nvSpPr>
        <p:spPr>
          <a:xfrm>
            <a:off x="7360920" y="2542032"/>
            <a:ext cx="1325880" cy="292608"/>
          </a:xfrm>
          <a:prstGeom prst="rect">
            <a:avLst/>
          </a:prstGeom>
          <a:noFill/>
          <a:ln/>
        </p:spPr>
        <p:txBody>
          <a:bodyPr wrap="square" lIns="0" tIns="0" rIns="0" bIns="0" rtlCol="0" anchor="t"/>
          <a:lstStyle/>
          <a:p>
            <a:pPr algn="ctr" indent="0" marL="0">
              <a:buNone/>
            </a:pPr>
            <a:r>
              <a:rPr lang="en-US" sz="1100" dirty="0">
                <a:solidFill>
                  <a:srgbClr val="5B5F66"/>
                </a:solidFill>
              </a:rPr>
              <a:t>alarmas de CPU</a:t>
            </a:r>
            <a:endParaRPr lang="en-US" sz="1100" dirty="0"/>
          </a:p>
        </p:txBody>
      </p:sp>
      <p:sp>
        <p:nvSpPr>
          <p:cNvPr id="16" name="Text 13"/>
          <p:cNvSpPr txBox="1"/>
          <p:nvPr/>
        </p:nvSpPr>
        <p:spPr>
          <a:xfrm>
            <a:off x="457200" y="3794760"/>
            <a:ext cx="8229600" cy="8686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F1F23"/>
                </a:solidFill>
              </a:rPr>
              <a:t>network: VPC, subnet, Internet Gateway y ruta 0.0.0.0/0</a:t>
            </a:r>
            <a:endParaRPr lang="en-US" sz="1200" dirty="0"/>
          </a:p>
          <a:p>
            <a:pPr marL="342900" indent="-342900">
              <a:spcAft>
                <a:spcPts val="200"/>
              </a:spcAft>
              <a:buSzPct val="100000"/>
              <a:buChar char="•"/>
            </a:pPr>
            <a:r>
              <a:rPr lang="en-US" sz="1200" dirty="0">
                <a:solidFill>
                  <a:srgbClr val="1F1F23"/>
                </a:solidFill>
              </a:rPr>
              <a:t>compute: servidores web y app (t3.micro/small)</a:t>
            </a:r>
            <a:endParaRPr lang="en-US" sz="1200" dirty="0"/>
          </a:p>
          <a:p>
            <a:pPr marL="342900" indent="-342900">
              <a:spcAft>
                <a:spcPts val="200"/>
              </a:spcAft>
              <a:buSzPct val="100000"/>
              <a:buChar char="•"/>
            </a:pPr>
            <a:r>
              <a:rPr lang="en-US" sz="1200" dirty="0">
                <a:solidFill>
                  <a:srgbClr val="1F1F23"/>
                </a:solidFill>
              </a:rPr>
              <a:t>security: Security Group propio (80, 443 y SSH interno)</a:t>
            </a:r>
            <a:endParaRPr lang="en-US" sz="1200" dirty="0"/>
          </a:p>
          <a:p>
            <a:pPr marL="342900" indent="-342900">
              <a:spcAft>
                <a:spcPts val="200"/>
              </a:spcAft>
              <a:buSzPct val="100000"/>
              <a:buChar char="•"/>
            </a:pPr>
            <a:r>
              <a:rPr lang="en-US" sz="1200" dirty="0">
                <a:solidFill>
                  <a:srgbClr val="1F1F23"/>
                </a:solidFill>
              </a:rPr>
              <a:t>monitoring: CloudWatch Log Group + alarma por servidor</a:t>
            </a:r>
            <a:endParaRPr lang="en-US" sz="1200" dirty="0"/>
          </a:p>
        </p:txBody>
      </p:sp>
      <p:sp>
        <p:nvSpPr>
          <p:cNvPr id="17" name="Expositor"/>
          <p:cNvSpPr/>
          <p:nvPr/>
        </p:nvSpPr>
        <p:spPr>
          <a:xfrm>
            <a:off x="5989320" y="4736592"/>
            <a:ext cx="2240280" cy="292608"/>
          </a:xfrm>
          <a:prstGeom prst="roundRect">
            <a:avLst>
              <a:gd name="adj" fmla="val 50000"/>
            </a:avLst>
          </a:prstGeom>
          <a:solidFill>
            <a:srgbClr val="E07B00"/>
          </a:solidFill>
          <a:ln w="12700">
            <a:solidFill>
              <a:srgbClr val="E07B00"/>
            </a:solidFill>
            <a:prstDash val="solid"/>
          </a:ln>
        </p:spPr>
      </p:sp>
      <p:sp>
        <p:nvSpPr>
          <p:cNvPr id="18"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Carlos Gonzales</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Pruebas AWS: un error real detectado a tiempo</a:t>
            </a:r>
            <a:endParaRPr lang="en-US" sz="2800" dirty="0"/>
          </a:p>
        </p:txBody>
      </p:sp>
      <p:sp>
        <p:nvSpPr>
          <p:cNvPr id="3" name="Shape 1"/>
          <p:cNvSpPr/>
          <p:nvPr/>
        </p:nvSpPr>
        <p:spPr>
          <a:xfrm>
            <a:off x="457200" y="1051560"/>
            <a:ext cx="3931920" cy="3520440"/>
          </a:xfrm>
          <a:prstGeom prst="roundRect">
            <a:avLst>
              <a:gd name="adj" fmla="val 2078"/>
            </a:avLst>
          </a:prstGeom>
          <a:solidFill>
            <a:srgbClr val="F4EFEF"/>
          </a:solidFill>
          <a:ln w="12700">
            <a:solidFill>
              <a:srgbClr val="F4EFEF"/>
            </a:solidFill>
            <a:prstDash val="solid"/>
          </a:ln>
        </p:spPr>
      </p:sp>
      <p:sp>
        <p:nvSpPr>
          <p:cNvPr id="4" name="Text 2"/>
          <p:cNvSpPr txBox="1"/>
          <p:nvPr/>
        </p:nvSpPr>
        <p:spPr>
          <a:xfrm>
            <a:off x="685800" y="1188720"/>
            <a:ext cx="3566160" cy="365760"/>
          </a:xfrm>
          <a:prstGeom prst="rect">
            <a:avLst/>
          </a:prstGeom>
          <a:noFill/>
          <a:ln/>
        </p:spPr>
        <p:txBody>
          <a:bodyPr wrap="square" lIns="0" tIns="0" rIns="0" bIns="0" rtlCol="0" anchor="ctr"/>
          <a:lstStyle/>
          <a:p>
            <a:pPr indent="0" marL="0">
              <a:buNone/>
            </a:pPr>
            <a:r>
              <a:rPr lang="en-US" sz="1600" b="1" dirty="0">
                <a:solidFill>
                  <a:srgbClr val="E07B00"/>
                </a:solidFill>
              </a:rPr>
              <a:t>Cómo se probó sin credenciales</a:t>
            </a:r>
            <a:endParaRPr lang="en-US" sz="1600" dirty="0"/>
          </a:p>
        </p:txBody>
      </p:sp>
      <p:sp>
        <p:nvSpPr>
          <p:cNvPr id="5" name="Text 3"/>
          <p:cNvSpPr txBox="1"/>
          <p:nvPr/>
        </p:nvSpPr>
        <p:spPr>
          <a:xfrm>
            <a:off x="685800" y="1645920"/>
            <a:ext cx="352044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1F23"/>
                </a:solidFill>
              </a:rPr>
              <a:t>mock_provider "aws" {} simula la API: cero llamadas reales</a:t>
            </a:r>
            <a:endParaRPr lang="en-US" sz="1300" dirty="0"/>
          </a:p>
          <a:p>
            <a:pPr marL="342900" indent="-342900">
              <a:spcAft>
                <a:spcPts val="600"/>
              </a:spcAft>
              <a:buSzPct val="100000"/>
              <a:buChar char="•"/>
            </a:pPr>
            <a:r>
              <a:rPr lang="en-US" sz="1300" dirty="0">
                <a:solidFill>
                  <a:srgbClr val="1F1F23"/>
                </a:solidFill>
              </a:rPr>
              <a:t>4 suites: aws_network, aws_compute, aws_security, aws_monitoring</a:t>
            </a:r>
            <a:endParaRPr lang="en-US" sz="1300" dirty="0"/>
          </a:p>
          <a:p>
            <a:pPr marL="342900" indent="-342900">
              <a:spcAft>
                <a:spcPts val="600"/>
              </a:spcAft>
              <a:buSzPct val="100000"/>
              <a:buChar char="•"/>
            </a:pPr>
            <a:r>
              <a:rPr lang="en-US" sz="1300" dirty="0">
                <a:solidFill>
                  <a:srgbClr val="1F1F23"/>
                </a:solidFill>
              </a:rPr>
              <a:t>Aserciones: CIDR declarado, 2 instancias, reglas por entrada, alarmas</a:t>
            </a:r>
            <a:endParaRPr lang="en-US" sz="1300" dirty="0"/>
          </a:p>
          <a:p>
            <a:pPr marL="342900" indent="-342900">
              <a:spcAft>
                <a:spcPts val="600"/>
              </a:spcAft>
              <a:buSzPct val="100000"/>
              <a:buChar char="•"/>
            </a:pPr>
            <a:r>
              <a:rPr lang="en-US" sz="1300" dirty="0">
                <a:solidFill>
                  <a:srgbClr val="1F1F23"/>
                </a:solidFill>
              </a:rPr>
              <a:t>Validaciones de entrada rechazan CIDR y direcciones inválidas</a:t>
            </a:r>
            <a:endParaRPr lang="en-US" sz="1300" dirty="0"/>
          </a:p>
        </p:txBody>
      </p:sp>
      <p:sp>
        <p:nvSpPr>
          <p:cNvPr id="6" name="Text 4"/>
          <p:cNvSpPr txBox="1"/>
          <p:nvPr/>
        </p:nvSpPr>
        <p:spPr>
          <a:xfrm>
            <a:off x="4663440" y="1051560"/>
            <a:ext cx="4023360" cy="365760"/>
          </a:xfrm>
          <a:prstGeom prst="rect">
            <a:avLst/>
          </a:prstGeom>
          <a:noFill/>
          <a:ln/>
        </p:spPr>
        <p:txBody>
          <a:bodyPr wrap="square" lIns="0" tIns="0" rIns="0" bIns="0" rtlCol="0" anchor="ctr"/>
          <a:lstStyle/>
          <a:p>
            <a:pPr indent="0" marL="0">
              <a:buNone/>
            </a:pPr>
            <a:r>
              <a:rPr lang="en-US" sz="1600" b="1" dirty="0">
                <a:solidFill>
                  <a:srgbClr val="6E1423"/>
                </a:solidFill>
              </a:rPr>
              <a:t>El hallazgo (CP02)</a:t>
            </a:r>
            <a:endParaRPr lang="en-US" sz="1600" dirty="0"/>
          </a:p>
        </p:txBody>
      </p:sp>
      <p:sp>
        <p:nvSpPr>
          <p:cNvPr id="7" name="Text 5"/>
          <p:cNvSpPr txBox="1"/>
          <p:nvPr/>
        </p:nvSpPr>
        <p:spPr>
          <a:xfrm>
            <a:off x="4663440" y="1508760"/>
            <a:ext cx="1737360" cy="502920"/>
          </a:xfrm>
          <a:prstGeom prst="rect">
            <a:avLst/>
          </a:prstGeom>
          <a:noFill/>
          <a:ln/>
        </p:spPr>
        <p:txBody>
          <a:bodyPr wrap="square" lIns="0" tIns="0" rIns="0" bIns="0" rtlCol="0" anchor="ctr"/>
          <a:lstStyle/>
          <a:p>
            <a:pPr indent="0" marL="0">
              <a:buNone/>
            </a:pPr>
            <a:r>
              <a:rPr lang="en-US" sz="1800" b="1" dirty="0">
                <a:solidFill>
                  <a:srgbClr val="B5162B"/>
                </a:solidFill>
                <a:latin typeface="Courier New" pitchFamily="34" charset="0"/>
                <a:ea typeface="Courier New" pitchFamily="34" charset="-122"/>
                <a:cs typeface="Courier New" pitchFamily="34" charset="-120"/>
              </a:rPr>
              <a:t>route[0]</a:t>
            </a:r>
            <a:endParaRPr lang="en-US" sz="1800" dirty="0"/>
          </a:p>
        </p:txBody>
      </p:sp>
      <p:sp>
        <p:nvSpPr>
          <p:cNvPr id="8" name="Text 6"/>
          <p:cNvSpPr txBox="1"/>
          <p:nvPr/>
        </p:nvSpPr>
        <p:spPr>
          <a:xfrm>
            <a:off x="6400800" y="1508760"/>
            <a:ext cx="2286000" cy="502920"/>
          </a:xfrm>
          <a:prstGeom prst="rect">
            <a:avLst/>
          </a:prstGeom>
          <a:noFill/>
          <a:ln/>
        </p:spPr>
        <p:txBody>
          <a:bodyPr wrap="square" lIns="0" tIns="0" rIns="0" bIns="0" rtlCol="0" anchor="ctr"/>
          <a:lstStyle/>
          <a:p>
            <a:pPr indent="0" marL="0">
              <a:buNone/>
            </a:pPr>
            <a:r>
              <a:rPr lang="en-US" sz="1200" dirty="0">
                <a:solidFill>
                  <a:srgbClr val="5B5F66"/>
                </a:solidFill>
              </a:rPr>
              <a:t>no válido: route es un set, no tiene índice</a:t>
            </a:r>
            <a:endParaRPr lang="en-US" sz="1200" dirty="0"/>
          </a:p>
        </p:txBody>
      </p:sp>
      <p:sp>
        <p:nvSpPr>
          <p:cNvPr id="9" name="Text 7"/>
          <p:cNvSpPr txBox="1"/>
          <p:nvPr/>
        </p:nvSpPr>
        <p:spPr>
          <a:xfrm>
            <a:off x="4663440" y="2148840"/>
            <a:ext cx="4023360" cy="457200"/>
          </a:xfrm>
          <a:prstGeom prst="rect">
            <a:avLst/>
          </a:prstGeom>
          <a:noFill/>
          <a:ln/>
        </p:spPr>
        <p:txBody>
          <a:bodyPr wrap="square" lIns="0" tIns="0" rIns="0" bIns="0" rtlCol="0" anchor="ctr"/>
          <a:lstStyle/>
          <a:p>
            <a:pPr indent="0" marL="0">
              <a:buNone/>
            </a:pPr>
            <a:r>
              <a:rPr lang="en-US" sz="1200" b="1" dirty="0">
                <a:solidFill>
                  <a:srgbClr val="2E7D4F"/>
                </a:solidFill>
                <a:latin typeface="Courier New" pitchFamily="34" charset="0"/>
                <a:ea typeface="Courier New" pitchFamily="34" charset="-122"/>
                <a:cs typeface="Courier New" pitchFamily="34" charset="-120"/>
              </a:rPr>
              <a:t>anytrue([for r in route : ...])</a:t>
            </a:r>
            <a:endParaRPr lang="en-US" sz="1200" dirty="0"/>
          </a:p>
        </p:txBody>
      </p:sp>
      <p:sp>
        <p:nvSpPr>
          <p:cNvPr id="10" name="Text 8"/>
          <p:cNvSpPr txBox="1"/>
          <p:nvPr/>
        </p:nvSpPr>
        <p:spPr>
          <a:xfrm>
            <a:off x="4663440" y="2697480"/>
            <a:ext cx="4023360" cy="777240"/>
          </a:xfrm>
          <a:prstGeom prst="rect">
            <a:avLst/>
          </a:prstGeom>
          <a:noFill/>
          <a:ln/>
        </p:spPr>
        <p:txBody>
          <a:bodyPr wrap="square" lIns="0" tIns="0" rIns="0" bIns="0" rtlCol="0" anchor="t"/>
          <a:lstStyle/>
          <a:p>
            <a:pPr indent="0" marL="0">
              <a:buNone/>
            </a:pPr>
            <a:r>
              <a:rPr lang="en-US" sz="1300" dirty="0">
                <a:solidFill>
                  <a:srgbClr val="1F1F23"/>
                </a:solidFill>
              </a:rPr>
              <a:t>Corregido y re-ejecutado: todas las pruebas AWS en pass. El error se encontró antes de cualquier despliegue.</a:t>
            </a:r>
            <a:endParaRPr lang="en-US" sz="1300" dirty="0"/>
          </a:p>
        </p:txBody>
      </p:sp>
      <p:sp>
        <p:nvSpPr>
          <p:cNvPr id="11" name="Shape 9"/>
          <p:cNvSpPr/>
          <p:nvPr/>
        </p:nvSpPr>
        <p:spPr>
          <a:xfrm>
            <a:off x="4663440" y="3611880"/>
            <a:ext cx="1920240" cy="868680"/>
          </a:xfrm>
          <a:prstGeom prst="roundRect">
            <a:avLst>
              <a:gd name="adj" fmla="val 8421"/>
            </a:avLst>
          </a:prstGeom>
          <a:solidFill>
            <a:srgbClr val="F4EFEF"/>
          </a:solidFill>
          <a:ln w="12700">
            <a:solidFill>
              <a:srgbClr val="F4EFEF"/>
            </a:solidFill>
            <a:prstDash val="solid"/>
          </a:ln>
        </p:spPr>
      </p:sp>
      <p:sp>
        <p:nvSpPr>
          <p:cNvPr id="12" name="Text 10"/>
          <p:cNvSpPr txBox="1"/>
          <p:nvPr/>
        </p:nvSpPr>
        <p:spPr>
          <a:xfrm>
            <a:off x="4663440" y="3657600"/>
            <a:ext cx="1920240" cy="502920"/>
          </a:xfrm>
          <a:prstGeom prst="rect">
            <a:avLst/>
          </a:prstGeom>
          <a:noFill/>
          <a:ln/>
        </p:spPr>
        <p:txBody>
          <a:bodyPr wrap="square" lIns="0" tIns="0" rIns="0" bIns="0" rtlCol="0" anchor="ctr"/>
          <a:lstStyle/>
          <a:p>
            <a:pPr algn="ctr" indent="0" marL="0">
              <a:buNone/>
            </a:pPr>
            <a:r>
              <a:rPr lang="en-US" sz="2800" b="1" dirty="0">
                <a:solidFill>
                  <a:srgbClr val="2E7D4F"/>
                </a:solidFill>
              </a:rPr>
              <a:t>CP02</a:t>
            </a:r>
            <a:endParaRPr lang="en-US" sz="2800" dirty="0"/>
          </a:p>
        </p:txBody>
      </p:sp>
      <p:sp>
        <p:nvSpPr>
          <p:cNvPr id="13" name="Text 11"/>
          <p:cNvSpPr txBox="1"/>
          <p:nvPr/>
        </p:nvSpPr>
        <p:spPr>
          <a:xfrm>
            <a:off x="4663440" y="4142232"/>
            <a:ext cx="1920240" cy="292608"/>
          </a:xfrm>
          <a:prstGeom prst="rect">
            <a:avLst/>
          </a:prstGeom>
          <a:noFill/>
          <a:ln/>
        </p:spPr>
        <p:txBody>
          <a:bodyPr wrap="square" lIns="0" tIns="0" rIns="0" bIns="0" rtlCol="0" anchor="t"/>
          <a:lstStyle/>
          <a:p>
            <a:pPr algn="ctr" indent="0" marL="0">
              <a:buNone/>
            </a:pPr>
            <a:r>
              <a:rPr lang="en-US" sz="1100" dirty="0">
                <a:solidFill>
                  <a:srgbClr val="5B5F66"/>
                </a:solidFill>
              </a:rPr>
              <a:t>aprobada tras corrección</a:t>
            </a:r>
            <a:endParaRPr lang="en-US" sz="1100" dirty="0"/>
          </a:p>
        </p:txBody>
      </p:sp>
      <p:sp>
        <p:nvSpPr>
          <p:cNvPr id="14" name="Shape 12"/>
          <p:cNvSpPr/>
          <p:nvPr/>
        </p:nvSpPr>
        <p:spPr>
          <a:xfrm>
            <a:off x="6766560" y="3611880"/>
            <a:ext cx="1920240" cy="868680"/>
          </a:xfrm>
          <a:prstGeom prst="roundRect">
            <a:avLst>
              <a:gd name="adj" fmla="val 8421"/>
            </a:avLst>
          </a:prstGeom>
          <a:solidFill>
            <a:srgbClr val="F4EFEF"/>
          </a:solidFill>
          <a:ln w="12700">
            <a:solidFill>
              <a:srgbClr val="F4EFEF"/>
            </a:solidFill>
            <a:prstDash val="solid"/>
          </a:ln>
        </p:spPr>
      </p:sp>
      <p:sp>
        <p:nvSpPr>
          <p:cNvPr id="15" name="Text 13"/>
          <p:cNvSpPr txBox="1"/>
          <p:nvPr/>
        </p:nvSpPr>
        <p:spPr>
          <a:xfrm>
            <a:off x="6766560" y="3657600"/>
            <a:ext cx="1920240" cy="502920"/>
          </a:xfrm>
          <a:prstGeom prst="rect">
            <a:avLst/>
          </a:prstGeom>
          <a:noFill/>
          <a:ln/>
        </p:spPr>
        <p:txBody>
          <a:bodyPr wrap="square" lIns="0" tIns="0" rIns="0" bIns="0" rtlCol="0" anchor="ctr"/>
          <a:lstStyle/>
          <a:p>
            <a:pPr algn="ctr" indent="0" marL="0">
              <a:buNone/>
            </a:pPr>
            <a:r>
              <a:rPr lang="en-US" sz="2800" b="1" dirty="0">
                <a:solidFill>
                  <a:srgbClr val="2E7D4F"/>
                </a:solidFill>
              </a:rPr>
              <a:t>CP05 · CP06</a:t>
            </a:r>
            <a:endParaRPr lang="en-US" sz="2800" dirty="0"/>
          </a:p>
        </p:txBody>
      </p:sp>
      <p:sp>
        <p:nvSpPr>
          <p:cNvPr id="16" name="Text 14"/>
          <p:cNvSpPr txBox="1"/>
          <p:nvPr/>
        </p:nvSpPr>
        <p:spPr>
          <a:xfrm>
            <a:off x="6766560" y="4142232"/>
            <a:ext cx="1920240" cy="292608"/>
          </a:xfrm>
          <a:prstGeom prst="rect">
            <a:avLst/>
          </a:prstGeom>
          <a:noFill/>
          <a:ln/>
        </p:spPr>
        <p:txBody>
          <a:bodyPr wrap="square" lIns="0" tIns="0" rIns="0" bIns="0" rtlCol="0" anchor="t"/>
          <a:lstStyle/>
          <a:p>
            <a:pPr algn="ctr" indent="0" marL="0">
              <a:buNone/>
            </a:pPr>
            <a:r>
              <a:rPr lang="en-US" sz="1100" dirty="0">
                <a:solidFill>
                  <a:srgbClr val="5B5F66"/>
                </a:solidFill>
              </a:rPr>
              <a:t>2 servidores · redes únicas</a:t>
            </a:r>
            <a:endParaRPr lang="en-US" sz="1100" dirty="0"/>
          </a:p>
        </p:txBody>
      </p:sp>
      <p:sp>
        <p:nvSpPr>
          <p:cNvPr id="17" name="Expositor"/>
          <p:cNvSpPr/>
          <p:nvPr/>
        </p:nvSpPr>
        <p:spPr>
          <a:xfrm>
            <a:off x="5989320" y="4736592"/>
            <a:ext cx="2240280" cy="292608"/>
          </a:xfrm>
          <a:prstGeom prst="roundRect">
            <a:avLst>
              <a:gd name="adj" fmla="val 50000"/>
            </a:avLst>
          </a:prstGeom>
          <a:solidFill>
            <a:srgbClr val="E07B00"/>
          </a:solidFill>
          <a:ln w="12700">
            <a:solidFill>
              <a:srgbClr val="E07B00"/>
            </a:solidFill>
            <a:prstDash val="solid"/>
          </a:ln>
        </p:spPr>
      </p:sp>
      <p:sp>
        <p:nvSpPr>
          <p:cNvPr id="18"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Carlos Gonzales</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GCP: VPC personalizada con Cloud NAT</a:t>
            </a:r>
            <a:endParaRPr lang="en-US" sz="2800" dirty="0"/>
          </a:p>
        </p:txBody>
      </p:sp>
      <p:pic>
        <p:nvPicPr>
          <p:cNvPr id="3" name="Image 0" descr="/tmp/claude-0/-home-claude/01c0e5a6-0dc4-54dc-9bf7-5ed18b053e74/scratchpad/img/fig-03-arquitectura-gcp.png">    </p:cNvPr>
          <p:cNvPicPr>
            <a:picLocks noChangeAspect="1"/>
          </p:cNvPicPr>
          <p:nvPr/>
        </p:nvPicPr>
        <p:blipFill>
          <a:blip r:embed="rId1"/>
          <a:stretch>
            <a:fillRect/>
          </a:stretch>
        </p:blipFill>
        <p:spPr>
          <a:xfrm>
            <a:off x="457200" y="1019803"/>
            <a:ext cx="5120640" cy="2669553"/>
          </a:xfrm>
          <a:prstGeom prst="rect">
            <a:avLst/>
          </a:prstGeom>
        </p:spPr>
      </p:pic>
      <p:sp>
        <p:nvSpPr>
          <p:cNvPr id="4" name="Shape 1"/>
          <p:cNvSpPr/>
          <p:nvPr/>
        </p:nvSpPr>
        <p:spPr>
          <a:xfrm>
            <a:off x="5852160" y="1005840"/>
            <a:ext cx="1325880" cy="868680"/>
          </a:xfrm>
          <a:prstGeom prst="roundRect">
            <a:avLst>
              <a:gd name="adj" fmla="val 8421"/>
            </a:avLst>
          </a:prstGeom>
          <a:solidFill>
            <a:srgbClr val="F4EFEF"/>
          </a:solidFill>
          <a:ln w="12700">
            <a:solidFill>
              <a:srgbClr val="F4EFEF"/>
            </a:solidFill>
            <a:prstDash val="solid"/>
          </a:ln>
        </p:spPr>
      </p:sp>
      <p:sp>
        <p:nvSpPr>
          <p:cNvPr id="5" name="Text 2"/>
          <p:cNvSpPr txBox="1"/>
          <p:nvPr/>
        </p:nvSpPr>
        <p:spPr>
          <a:xfrm>
            <a:off x="5852160" y="1051560"/>
            <a:ext cx="1325880" cy="502920"/>
          </a:xfrm>
          <a:prstGeom prst="rect">
            <a:avLst/>
          </a:prstGeom>
          <a:noFill/>
          <a:ln/>
        </p:spPr>
        <p:txBody>
          <a:bodyPr wrap="square" lIns="0" tIns="0" rIns="0" bIns="0" rtlCol="0" anchor="ctr"/>
          <a:lstStyle/>
          <a:p>
            <a:pPr algn="ctr" indent="0" marL="0">
              <a:buNone/>
            </a:pPr>
            <a:r>
              <a:rPr lang="en-US" sz="2800" b="1" dirty="0">
                <a:solidFill>
                  <a:srgbClr val="1A73E8"/>
                </a:solidFill>
              </a:rPr>
              <a:t>25</a:t>
            </a:r>
            <a:endParaRPr lang="en-US" sz="2800" dirty="0"/>
          </a:p>
        </p:txBody>
      </p:sp>
      <p:sp>
        <p:nvSpPr>
          <p:cNvPr id="6" name="Text 3"/>
          <p:cNvSpPr txBox="1"/>
          <p:nvPr/>
        </p:nvSpPr>
        <p:spPr>
          <a:xfrm>
            <a:off x="5852160" y="1536192"/>
            <a:ext cx="1325880" cy="292608"/>
          </a:xfrm>
          <a:prstGeom prst="rect">
            <a:avLst/>
          </a:prstGeom>
          <a:noFill/>
          <a:ln/>
        </p:spPr>
        <p:txBody>
          <a:bodyPr wrap="square" lIns="0" tIns="0" rIns="0" bIns="0" rtlCol="0" anchor="t"/>
          <a:lstStyle/>
          <a:p>
            <a:pPr algn="ctr" indent="0" marL="0">
              <a:buNone/>
            </a:pPr>
            <a:r>
              <a:rPr lang="en-US" sz="1100" dirty="0">
                <a:solidFill>
                  <a:srgbClr val="5B5F66"/>
                </a:solidFill>
              </a:rPr>
              <a:t>VPC Networks</a:t>
            </a:r>
            <a:endParaRPr lang="en-US" sz="1100" dirty="0"/>
          </a:p>
        </p:txBody>
      </p:sp>
      <p:sp>
        <p:nvSpPr>
          <p:cNvPr id="7" name="Shape 4"/>
          <p:cNvSpPr/>
          <p:nvPr/>
        </p:nvSpPr>
        <p:spPr>
          <a:xfrm>
            <a:off x="7360920" y="1005840"/>
            <a:ext cx="1325880" cy="868680"/>
          </a:xfrm>
          <a:prstGeom prst="roundRect">
            <a:avLst>
              <a:gd name="adj" fmla="val 8421"/>
            </a:avLst>
          </a:prstGeom>
          <a:solidFill>
            <a:srgbClr val="F4EFEF"/>
          </a:solidFill>
          <a:ln w="12700">
            <a:solidFill>
              <a:srgbClr val="F4EFEF"/>
            </a:solidFill>
            <a:prstDash val="solid"/>
          </a:ln>
        </p:spPr>
      </p:sp>
      <p:sp>
        <p:nvSpPr>
          <p:cNvPr id="8" name="Text 5"/>
          <p:cNvSpPr txBox="1"/>
          <p:nvPr/>
        </p:nvSpPr>
        <p:spPr>
          <a:xfrm>
            <a:off x="7360920" y="1051560"/>
            <a:ext cx="1325880" cy="502920"/>
          </a:xfrm>
          <a:prstGeom prst="rect">
            <a:avLst/>
          </a:prstGeom>
          <a:noFill/>
          <a:ln/>
        </p:spPr>
        <p:txBody>
          <a:bodyPr wrap="square" lIns="0" tIns="0" rIns="0" bIns="0" rtlCol="0" anchor="ctr"/>
          <a:lstStyle/>
          <a:p>
            <a:pPr algn="ctr" indent="0" marL="0">
              <a:buNone/>
            </a:pPr>
            <a:r>
              <a:rPr lang="en-US" sz="2800" b="1" dirty="0">
                <a:solidFill>
                  <a:srgbClr val="1A73E8"/>
                </a:solidFill>
              </a:rPr>
              <a:t>50</a:t>
            </a:r>
            <a:endParaRPr lang="en-US" sz="2800" dirty="0"/>
          </a:p>
        </p:txBody>
      </p:sp>
      <p:sp>
        <p:nvSpPr>
          <p:cNvPr id="9" name="Text 6"/>
          <p:cNvSpPr txBox="1"/>
          <p:nvPr/>
        </p:nvSpPr>
        <p:spPr>
          <a:xfrm>
            <a:off x="7360920" y="1536192"/>
            <a:ext cx="1325880" cy="292608"/>
          </a:xfrm>
          <a:prstGeom prst="rect">
            <a:avLst/>
          </a:prstGeom>
          <a:noFill/>
          <a:ln/>
        </p:spPr>
        <p:txBody>
          <a:bodyPr wrap="square" lIns="0" tIns="0" rIns="0" bIns="0" rtlCol="0" anchor="t"/>
          <a:lstStyle/>
          <a:p>
            <a:pPr algn="ctr" indent="0" marL="0">
              <a:buNone/>
            </a:pPr>
            <a:r>
              <a:rPr lang="en-US" sz="1100" dirty="0">
                <a:solidFill>
                  <a:srgbClr val="5B5F66"/>
                </a:solidFill>
              </a:rPr>
              <a:t>Compute Engine</a:t>
            </a:r>
            <a:endParaRPr lang="en-US" sz="1100" dirty="0"/>
          </a:p>
        </p:txBody>
      </p:sp>
      <p:sp>
        <p:nvSpPr>
          <p:cNvPr id="10" name="Shape 7"/>
          <p:cNvSpPr/>
          <p:nvPr/>
        </p:nvSpPr>
        <p:spPr>
          <a:xfrm>
            <a:off x="5852160" y="2011680"/>
            <a:ext cx="1325880" cy="868680"/>
          </a:xfrm>
          <a:prstGeom prst="roundRect">
            <a:avLst>
              <a:gd name="adj" fmla="val 8421"/>
            </a:avLst>
          </a:prstGeom>
          <a:solidFill>
            <a:srgbClr val="F4EFEF"/>
          </a:solidFill>
          <a:ln w="12700">
            <a:solidFill>
              <a:srgbClr val="F4EFEF"/>
            </a:solidFill>
            <a:prstDash val="solid"/>
          </a:ln>
        </p:spPr>
      </p:sp>
      <p:sp>
        <p:nvSpPr>
          <p:cNvPr id="11" name="Text 8"/>
          <p:cNvSpPr txBox="1"/>
          <p:nvPr/>
        </p:nvSpPr>
        <p:spPr>
          <a:xfrm>
            <a:off x="5852160" y="2057400"/>
            <a:ext cx="1325880" cy="502920"/>
          </a:xfrm>
          <a:prstGeom prst="rect">
            <a:avLst/>
          </a:prstGeom>
          <a:noFill/>
          <a:ln/>
        </p:spPr>
        <p:txBody>
          <a:bodyPr wrap="square" lIns="0" tIns="0" rIns="0" bIns="0" rtlCol="0" anchor="ctr"/>
          <a:lstStyle/>
          <a:p>
            <a:pPr algn="ctr" indent="0" marL="0">
              <a:buNone/>
            </a:pPr>
            <a:r>
              <a:rPr lang="en-US" sz="2800" b="1" dirty="0">
                <a:solidFill>
                  <a:srgbClr val="1A73E8"/>
                </a:solidFill>
              </a:rPr>
              <a:t>75</a:t>
            </a:r>
            <a:endParaRPr lang="en-US" sz="2800" dirty="0"/>
          </a:p>
        </p:txBody>
      </p:sp>
      <p:sp>
        <p:nvSpPr>
          <p:cNvPr id="12" name="Text 9"/>
          <p:cNvSpPr txBox="1"/>
          <p:nvPr/>
        </p:nvSpPr>
        <p:spPr>
          <a:xfrm>
            <a:off x="5852160" y="2542032"/>
            <a:ext cx="1325880" cy="292608"/>
          </a:xfrm>
          <a:prstGeom prst="rect">
            <a:avLst/>
          </a:prstGeom>
          <a:noFill/>
          <a:ln/>
        </p:spPr>
        <p:txBody>
          <a:bodyPr wrap="square" lIns="0" tIns="0" rIns="0" bIns="0" rtlCol="0" anchor="t"/>
          <a:lstStyle/>
          <a:p>
            <a:pPr algn="ctr" indent="0" marL="0">
              <a:buNone/>
            </a:pPr>
            <a:r>
              <a:rPr lang="en-US" sz="1100" dirty="0">
                <a:solidFill>
                  <a:srgbClr val="5B5F66"/>
                </a:solidFill>
              </a:rPr>
              <a:t>reglas firewall</a:t>
            </a:r>
            <a:endParaRPr lang="en-US" sz="1100" dirty="0"/>
          </a:p>
        </p:txBody>
      </p:sp>
      <p:sp>
        <p:nvSpPr>
          <p:cNvPr id="13" name="Shape 10"/>
          <p:cNvSpPr/>
          <p:nvPr/>
        </p:nvSpPr>
        <p:spPr>
          <a:xfrm>
            <a:off x="7360920" y="2011680"/>
            <a:ext cx="1325880" cy="868680"/>
          </a:xfrm>
          <a:prstGeom prst="roundRect">
            <a:avLst>
              <a:gd name="adj" fmla="val 8421"/>
            </a:avLst>
          </a:prstGeom>
          <a:solidFill>
            <a:srgbClr val="F4EFEF"/>
          </a:solidFill>
          <a:ln w="12700">
            <a:solidFill>
              <a:srgbClr val="F4EFEF"/>
            </a:solidFill>
            <a:prstDash val="solid"/>
          </a:ln>
        </p:spPr>
      </p:sp>
      <p:sp>
        <p:nvSpPr>
          <p:cNvPr id="14" name="Text 11"/>
          <p:cNvSpPr txBox="1"/>
          <p:nvPr/>
        </p:nvSpPr>
        <p:spPr>
          <a:xfrm>
            <a:off x="7360920" y="2057400"/>
            <a:ext cx="1325880" cy="502920"/>
          </a:xfrm>
          <a:prstGeom prst="rect">
            <a:avLst/>
          </a:prstGeom>
          <a:noFill/>
          <a:ln/>
        </p:spPr>
        <p:txBody>
          <a:bodyPr wrap="square" lIns="0" tIns="0" rIns="0" bIns="0" rtlCol="0" anchor="ctr"/>
          <a:lstStyle/>
          <a:p>
            <a:pPr algn="ctr" indent="0" marL="0">
              <a:buNone/>
            </a:pPr>
            <a:r>
              <a:rPr lang="en-US" sz="2800" b="1" dirty="0">
                <a:solidFill>
                  <a:srgbClr val="1A73E8"/>
                </a:solidFill>
              </a:rPr>
              <a:t>25</a:t>
            </a:r>
            <a:endParaRPr lang="en-US" sz="2800" dirty="0"/>
          </a:p>
        </p:txBody>
      </p:sp>
      <p:sp>
        <p:nvSpPr>
          <p:cNvPr id="15" name="Text 12"/>
          <p:cNvSpPr txBox="1"/>
          <p:nvPr/>
        </p:nvSpPr>
        <p:spPr>
          <a:xfrm>
            <a:off x="7360920" y="2542032"/>
            <a:ext cx="1325880" cy="292608"/>
          </a:xfrm>
          <a:prstGeom prst="rect">
            <a:avLst/>
          </a:prstGeom>
          <a:noFill/>
          <a:ln/>
        </p:spPr>
        <p:txBody>
          <a:bodyPr wrap="square" lIns="0" tIns="0" rIns="0" bIns="0" rtlCol="0" anchor="t"/>
          <a:lstStyle/>
          <a:p>
            <a:pPr algn="ctr" indent="0" marL="0">
              <a:buNone/>
            </a:pPr>
            <a:r>
              <a:rPr lang="en-US" sz="1100" dirty="0">
                <a:solidFill>
                  <a:srgbClr val="5B5F66"/>
                </a:solidFill>
              </a:rPr>
              <a:t>alertas de CPU</a:t>
            </a:r>
            <a:endParaRPr lang="en-US" sz="1100" dirty="0"/>
          </a:p>
        </p:txBody>
      </p:sp>
      <p:sp>
        <p:nvSpPr>
          <p:cNvPr id="16" name="Text 13"/>
          <p:cNvSpPr txBox="1"/>
          <p:nvPr/>
        </p:nvSpPr>
        <p:spPr>
          <a:xfrm>
            <a:off x="457200" y="3794760"/>
            <a:ext cx="8229600" cy="868680"/>
          </a:xfrm>
          <a:prstGeom prst="rect">
            <a:avLst/>
          </a:prstGeom>
          <a:noFill/>
          <a:ln/>
        </p:spPr>
        <p:txBody>
          <a:bodyPr wrap="square" lIns="0" tIns="0" rIns="0" bIns="0" rtlCol="0" anchor="t"/>
          <a:lstStyle/>
          <a:p>
            <a:pPr marL="342900" indent="-342900">
              <a:spcAft>
                <a:spcPts val="200"/>
              </a:spcAft>
              <a:buSzPct val="100000"/>
              <a:buChar char="•"/>
            </a:pPr>
            <a:r>
              <a:rPr lang="en-US" sz="1200" dirty="0">
                <a:solidFill>
                  <a:srgbClr val="1F1F23"/>
                </a:solidFill>
              </a:rPr>
              <a:t>network: VPC sin subnets automáticas + subnet regional, Cloud Router y NAT</a:t>
            </a:r>
            <a:endParaRPr lang="en-US" sz="1200" dirty="0"/>
          </a:p>
          <a:p>
            <a:pPr marL="342900" indent="-342900">
              <a:spcAft>
                <a:spcPts val="200"/>
              </a:spcAft>
              <a:buSzPct val="100000"/>
              <a:buChar char="•"/>
            </a:pPr>
            <a:r>
              <a:rPr lang="en-US" sz="1200" dirty="0">
                <a:solidFill>
                  <a:srgbClr val="1F1F23"/>
                </a:solidFill>
              </a:rPr>
              <a:t>compute: servidores web y app (e2-micro/small)</a:t>
            </a:r>
            <a:endParaRPr lang="en-US" sz="1200" dirty="0"/>
          </a:p>
          <a:p>
            <a:pPr marL="342900" indent="-342900">
              <a:spcAft>
                <a:spcPts val="200"/>
              </a:spcAft>
              <a:buSzPct val="100000"/>
              <a:buChar char="•"/>
            </a:pPr>
            <a:r>
              <a:rPr lang="en-US" sz="1200" dirty="0">
                <a:solidFill>
                  <a:srgbClr val="1F1F23"/>
                </a:solidFill>
              </a:rPr>
              <a:t>security: un google_compute_firewall por regla declarada</a:t>
            </a:r>
            <a:endParaRPr lang="en-US" sz="1200" dirty="0"/>
          </a:p>
          <a:p>
            <a:pPr marL="342900" indent="-342900">
              <a:spcAft>
                <a:spcPts val="200"/>
              </a:spcAft>
              <a:buSzPct val="100000"/>
              <a:buChar char="•"/>
            </a:pPr>
            <a:r>
              <a:rPr lang="en-US" sz="1200" dirty="0">
                <a:solidFill>
                  <a:srgbClr val="1F1F23"/>
                </a:solidFill>
              </a:rPr>
              <a:t>monitoring: política de alerta de CPU &gt; 80% en Cloud Monitoring</a:t>
            </a:r>
            <a:endParaRPr lang="en-US" sz="1200" dirty="0"/>
          </a:p>
        </p:txBody>
      </p:sp>
      <p:sp>
        <p:nvSpPr>
          <p:cNvPr id="17" name="Expositor"/>
          <p:cNvSpPr/>
          <p:nvPr/>
        </p:nvSpPr>
        <p:spPr>
          <a:xfrm>
            <a:off x="5989320" y="4736592"/>
            <a:ext cx="2240280" cy="292608"/>
          </a:xfrm>
          <a:prstGeom prst="roundRect">
            <a:avLst>
              <a:gd name="adj" fmla="val 50000"/>
            </a:avLst>
          </a:prstGeom>
          <a:solidFill>
            <a:srgbClr val="1A73E8"/>
          </a:solidFill>
          <a:ln w="12700">
            <a:solidFill>
              <a:srgbClr val="1A73E8"/>
            </a:solidFill>
            <a:prstDash val="solid"/>
          </a:ln>
        </p:spPr>
      </p:sp>
      <p:sp>
        <p:nvSpPr>
          <p:cNvPr id="18"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Eddyson Huamani</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Misma interfaz lógica, diferencias reales respetadas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5120640" cy="914400"/>
        </p:xfrm>
        <a:graphic>
          <a:graphicData uri="http://schemas.openxmlformats.org/drawingml/2006/table">
            <a:tbl>
              <a:tblPr/>
              <a:tblGrid>
                <a:gridCol w="1463040"/>
                <a:gridCol w="1737360"/>
                <a:gridCol w="1920240"/>
              </a:tblGrid>
              <a:tr h="457200">
                <a:tc>
                  <a:txBody>
                    <a:bodyPr/>
                    <a:lstStyle/>
                    <a:p>
                      <a:pPr indent="0" marL="0">
                        <a:buNone/>
                      </a:pPr>
                      <a:r>
                        <a:rPr lang="en-US" sz="1200" b="1" dirty="0">
                          <a:solidFill>
                            <a:srgbClr val="FFFFFF"/>
                          </a:solidFill>
                        </a:rPr>
                        <a:t>Aspecto</a:t>
                      </a:r>
                      <a:endParaRPr lang="en-US" sz="12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6E1423"/>
                    </a:solidFill>
                  </a:tcPr>
                </a:tc>
                <a:tc>
                  <a:txBody>
                    <a:bodyPr/>
                    <a:lstStyle/>
                    <a:p>
                      <a:pPr indent="0" marL="0">
                        <a:buNone/>
                      </a:pPr>
                      <a:r>
                        <a:rPr lang="en-US" sz="1200" b="1" dirty="0">
                          <a:solidFill>
                            <a:srgbClr val="FFFFFF"/>
                          </a:solidFill>
                        </a:rPr>
                        <a:t>AWS</a:t>
                      </a:r>
                      <a:endParaRPr lang="en-US" sz="12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E07B00"/>
                    </a:solidFill>
                  </a:tcPr>
                </a:tc>
                <a:tc>
                  <a:txBody>
                    <a:bodyPr/>
                    <a:lstStyle/>
                    <a:p>
                      <a:pPr indent="0" marL="0">
                        <a:buNone/>
                      </a:pPr>
                      <a:r>
                        <a:rPr lang="en-US" sz="1200" b="1" dirty="0">
                          <a:solidFill>
                            <a:srgbClr val="FFFFFF"/>
                          </a:solidFill>
                        </a:rPr>
                        <a:t>GCP</a:t>
                      </a:r>
                      <a:endParaRPr lang="en-US" sz="12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1A73E8"/>
                    </a:solidFill>
                  </a:tcPr>
                </a:tc>
              </a:tr>
              <a:tr h="457200">
                <a:tc>
                  <a:txBody>
                    <a:bodyPr/>
                    <a:lstStyle/>
                    <a:p>
                      <a:pPr indent="0" marL="0">
                        <a:buNone/>
                      </a:pPr>
                      <a:r>
                        <a:rPr lang="en-US" sz="1100" dirty="0">
                          <a:solidFill>
                            <a:srgbClr val="1F1F23"/>
                          </a:solidFill>
                        </a:rPr>
                        <a:t>Reglas de seguridad</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c>
                  <a:txBody>
                    <a:bodyPr/>
                    <a:lstStyle/>
                    <a:p>
                      <a:pPr indent="0" marL="0">
                        <a:buNone/>
                      </a:pPr>
                      <a:r>
                        <a:rPr lang="en-US" sz="1100" dirty="0">
                          <a:solidFill>
                            <a:srgbClr val="1F1F23"/>
                          </a:solidFill>
                        </a:rPr>
                        <a:t>Security Group con N reglas</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c>
                  <a:txBody>
                    <a:bodyPr/>
                    <a:lstStyle/>
                    <a:p>
                      <a:pPr indent="0" marL="0">
                        <a:buNone/>
                      </a:pPr>
                      <a:r>
                        <a:rPr lang="en-US" sz="1100" dirty="0">
                          <a:solidFill>
                            <a:srgbClr val="1F1F23"/>
                          </a:solidFill>
                        </a:rPr>
                        <a:t>Un firewall por regla, sin contenedor</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F1F23"/>
                          </a:solidFill>
                        </a:rPr>
                        <a:t>Salida a Internet</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c>
                  <a:txBody>
                    <a:bodyPr/>
                    <a:lstStyle/>
                    <a:p>
                      <a:pPr indent="0" marL="0">
                        <a:buNone/>
                      </a:pPr>
                      <a:r>
                        <a:rPr lang="en-US" sz="1100" dirty="0">
                          <a:solidFill>
                            <a:srgbClr val="1F1F23"/>
                          </a:solidFill>
                        </a:rPr>
                        <a:t>Internet Gateway + ruta</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c>
                  <a:txBody>
                    <a:bodyPr/>
                    <a:lstStyle/>
                    <a:p>
                      <a:pPr indent="0" marL="0">
                        <a:buNone/>
                      </a:pPr>
                      <a:r>
                        <a:rPr lang="en-US" sz="1100" dirty="0">
                          <a:solidFill>
                            <a:srgbClr val="1F1F23"/>
                          </a:solidFill>
                        </a:rPr>
                        <a:t>Cloud Router + Cloud NAT</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F1F23"/>
                          </a:solidFill>
                        </a:rPr>
                        <a:t>Región</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c>
                  <a:txBody>
                    <a:bodyPr/>
                    <a:lstStyle/>
                    <a:p>
                      <a:pPr indent="0" marL="0">
                        <a:buNone/>
                      </a:pPr>
                      <a:r>
                        <a:rPr lang="en-US" sz="1100" dirty="0">
                          <a:solidFill>
                            <a:srgbClr val="1F1F23"/>
                          </a:solidFill>
                        </a:rPr>
                        <a:t>A nivel de provider</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c>
                  <a:txBody>
                    <a:bodyPr/>
                    <a:lstStyle/>
                    <a:p>
                      <a:pPr indent="0" marL="0">
                        <a:buNone/>
                      </a:pPr>
                      <a:r>
                        <a:rPr lang="en-US" sz="1100" dirty="0">
                          <a:solidFill>
                            <a:srgbClr val="1F1F23"/>
                          </a:solidFill>
                        </a:rPr>
                        <a:t>A nivel de recurso</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F1F23"/>
                          </a:solidFill>
                        </a:rPr>
                        <a:t>Retención de logs</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c>
                  <a:txBody>
                    <a:bodyPr/>
                    <a:lstStyle/>
                    <a:p>
                      <a:pPr indent="0" marL="0">
                        <a:buNone/>
                      </a:pPr>
                      <a:r>
                        <a:rPr lang="en-US" sz="1100" dirty="0">
                          <a:solidFill>
                            <a:srgbClr val="1F1F23"/>
                          </a:solidFill>
                        </a:rPr>
                        <a:t>Por Log Group</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c>
                  <a:txBody>
                    <a:bodyPr/>
                    <a:lstStyle/>
                    <a:p>
                      <a:pPr indent="0" marL="0">
                        <a:buNone/>
                      </a:pPr>
                      <a:r>
                        <a:rPr lang="en-US" sz="1100" dirty="0">
                          <a:solidFill>
                            <a:srgbClr val="1F1F23"/>
                          </a:solidFill>
                        </a:rPr>
                        <a:t>Por proyecto (fuera del módulo)</a:t>
                      </a:r>
                      <a:endParaRPr lang="en-US" sz="1100" dirty="0"/>
                    </a:p>
                  </a:txBody>
                  <a:tcPr marL="54864" marR="54864" marT="54864" marB="54864" anchor="ctr">
                    <a:lnL w="6350" cap="flat" cmpd="sng" algn="ctr">
                      <a:solidFill>
                        <a:srgbClr val="D9D2D2"/>
                      </a:solidFill>
                      <a:prstDash val="solid"/>
                      <a:round/>
                      <a:headEnd type="none" w="med" len="med"/>
                      <a:tailEnd type="none" w="med" len="med"/>
                    </a:lnL>
                    <a:lnR w="6350" cap="flat" cmpd="sng" algn="ctr">
                      <a:solidFill>
                        <a:srgbClr val="D9D2D2"/>
                      </a:solidFill>
                      <a:prstDash val="solid"/>
                      <a:round/>
                      <a:headEnd type="none" w="med" len="med"/>
                      <a:tailEnd type="none" w="med" len="med"/>
                    </a:lnR>
                    <a:lnT w="6350" cap="flat" cmpd="sng" algn="ctr">
                      <a:solidFill>
                        <a:srgbClr val="D9D2D2"/>
                      </a:solidFill>
                      <a:prstDash val="solid"/>
                      <a:round/>
                      <a:headEnd type="none" w="med" len="med"/>
                      <a:tailEnd type="none" w="med" len="med"/>
                    </a:lnT>
                    <a:lnB w="6350" cap="flat" cmpd="sng" algn="ctr">
                      <a:solidFill>
                        <a:srgbClr val="D9D2D2"/>
                      </a:solidFill>
                      <a:prstDash val="solid"/>
                      <a:round/>
                      <a:headEnd type="none" w="med" len="med"/>
                      <a:tailEnd type="none" w="med" len="med"/>
                    </a:lnB>
                    <a:solidFill>
                      <a:srgbClr val="FFFFFF"/>
                    </a:solidFill>
                  </a:tcPr>
                </a:tc>
              </a:tr>
            </a:tbl>
          </a:graphicData>
        </a:graphic>
      </p:graphicFrame>
      <p:sp>
        <p:nvSpPr>
          <p:cNvPr id="4" name="Shape 1"/>
          <p:cNvSpPr/>
          <p:nvPr/>
        </p:nvSpPr>
        <p:spPr>
          <a:xfrm>
            <a:off x="5852160" y="1051560"/>
            <a:ext cx="2834640" cy="1691640"/>
          </a:xfrm>
          <a:prstGeom prst="roundRect">
            <a:avLst>
              <a:gd name="adj" fmla="val 4324"/>
            </a:avLst>
          </a:prstGeom>
          <a:solidFill>
            <a:srgbClr val="F4EFEF"/>
          </a:solidFill>
          <a:ln w="12700">
            <a:solidFill>
              <a:srgbClr val="F4EFEF"/>
            </a:solidFill>
            <a:prstDash val="solid"/>
          </a:ln>
        </p:spPr>
      </p:sp>
      <p:sp>
        <p:nvSpPr>
          <p:cNvPr id="5" name="Text 2"/>
          <p:cNvSpPr txBox="1"/>
          <p:nvPr/>
        </p:nvSpPr>
        <p:spPr>
          <a:xfrm>
            <a:off x="6035040" y="1143000"/>
            <a:ext cx="2560320" cy="365760"/>
          </a:xfrm>
          <a:prstGeom prst="rect">
            <a:avLst/>
          </a:prstGeom>
          <a:noFill/>
          <a:ln/>
        </p:spPr>
        <p:txBody>
          <a:bodyPr wrap="square" lIns="0" tIns="0" rIns="0" bIns="0" rtlCol="0" anchor="ctr"/>
          <a:lstStyle/>
          <a:p>
            <a:pPr indent="0" marL="0">
              <a:buNone/>
            </a:pPr>
            <a:r>
              <a:rPr lang="en-US" sz="1400" b="1" dirty="0">
                <a:solidFill>
                  <a:srgbClr val="1A73E8"/>
                </a:solidFill>
              </a:rPr>
              <a:t>Pruebas GCP (CP03, CP09)</a:t>
            </a:r>
            <a:endParaRPr lang="en-US" sz="1400" dirty="0"/>
          </a:p>
        </p:txBody>
      </p:sp>
      <p:sp>
        <p:nvSpPr>
          <p:cNvPr id="6" name="Text 3"/>
          <p:cNvSpPr txBox="1"/>
          <p:nvPr/>
        </p:nvSpPr>
        <p:spPr>
          <a:xfrm>
            <a:off x="6035040" y="1554480"/>
            <a:ext cx="2560320" cy="1143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F1F23"/>
                </a:solidFill>
              </a:rPr>
              <a:t>mock_provider "google" {}</a:t>
            </a:r>
            <a:endParaRPr lang="en-US" sz="1200" dirty="0"/>
          </a:p>
          <a:p>
            <a:pPr marL="342900" indent="-342900">
              <a:spcAft>
                <a:spcPts val="600"/>
              </a:spcAft>
              <a:buSzPct val="100000"/>
              <a:buChar char="•"/>
            </a:pPr>
            <a:r>
              <a:rPr lang="en-US" sz="1200" dirty="0">
                <a:solidFill>
                  <a:srgbClr val="1F1F23"/>
                </a:solidFill>
              </a:rPr>
              <a:t>4 suites gcp_*.tftest.hcl en pass</a:t>
            </a:r>
            <a:endParaRPr lang="en-US" sz="1200" dirty="0"/>
          </a:p>
          <a:p>
            <a:pPr marL="342900" indent="-342900">
              <a:spcAft>
                <a:spcPts val="600"/>
              </a:spcAft>
              <a:buSzPct val="100000"/>
              <a:buChar char="•"/>
            </a:pPr>
            <a:r>
              <a:rPr lang="en-US" sz="1200" dirty="0">
                <a:solidFill>
                  <a:srgbClr val="1F1F23"/>
                </a:solidFill>
              </a:rPr>
              <a:t>Rechazo de puertos y CIDR inválidos</a:t>
            </a:r>
            <a:endParaRPr lang="en-US" sz="1200" dirty="0"/>
          </a:p>
        </p:txBody>
      </p:sp>
      <p:sp>
        <p:nvSpPr>
          <p:cNvPr id="7" name="Text 4"/>
          <p:cNvSpPr txBox="1"/>
          <p:nvPr/>
        </p:nvSpPr>
        <p:spPr>
          <a:xfrm>
            <a:off x="5852160" y="2926080"/>
            <a:ext cx="2834640" cy="1143000"/>
          </a:xfrm>
          <a:prstGeom prst="rect">
            <a:avLst/>
          </a:prstGeom>
          <a:noFill/>
          <a:ln/>
        </p:spPr>
        <p:txBody>
          <a:bodyPr wrap="square" lIns="0" tIns="0" rIns="0" bIns="0" rtlCol="0" anchor="t"/>
          <a:lstStyle/>
          <a:p>
            <a:pPr indent="0" marL="0">
              <a:buNone/>
            </a:pPr>
            <a:r>
              <a:rPr lang="en-US" sz="1200" i="1" dirty="0">
                <a:solidFill>
                  <a:srgbClr val="5B5F66"/>
                </a:solidFill>
              </a:rPr>
              <a:t>En CI, TFLint detectó 4 advertencias en los módulos GCP (variables sin uso y una interpolación obsoleta); se corrigieron y el pipeline pasó.</a:t>
            </a:r>
            <a:endParaRPr lang="en-US" sz="1200" dirty="0"/>
          </a:p>
        </p:txBody>
      </p:sp>
      <p:sp>
        <p:nvSpPr>
          <p:cNvPr id="8" name="Text 5"/>
          <p:cNvSpPr txBox="1"/>
          <p:nvPr/>
        </p:nvSpPr>
        <p:spPr>
          <a:xfrm>
            <a:off x="457200" y="3611880"/>
            <a:ext cx="5120640" cy="822960"/>
          </a:xfrm>
          <a:prstGeom prst="rect">
            <a:avLst/>
          </a:prstGeom>
          <a:noFill/>
          <a:ln/>
        </p:spPr>
        <p:txBody>
          <a:bodyPr wrap="square" lIns="0" tIns="0" rIns="0" bIns="0" rtlCol="0" anchor="t"/>
          <a:lstStyle/>
          <a:p>
            <a:pPr indent="0" marL="0">
              <a:buNone/>
            </a:pPr>
            <a:r>
              <a:rPr lang="en-US" sz="1300" dirty="0">
                <a:solidFill>
                  <a:srgbClr val="1F1F23"/>
                </a:solidFill>
              </a:rPr>
              <a:t>Campos comunes en branches.yaml: size, servers, rules y monitoring sirven igual para ambos proveedores.</a:t>
            </a:r>
            <a:endParaRPr lang="en-US" sz="1300" dirty="0"/>
          </a:p>
        </p:txBody>
      </p:sp>
      <p:sp>
        <p:nvSpPr>
          <p:cNvPr id="9" name="Expositor"/>
          <p:cNvSpPr/>
          <p:nvPr/>
        </p:nvSpPr>
        <p:spPr>
          <a:xfrm>
            <a:off x="5989320" y="4736592"/>
            <a:ext cx="2240280" cy="292608"/>
          </a:xfrm>
          <a:prstGeom prst="roundRect">
            <a:avLst>
              <a:gd name="adj" fmla="val 50000"/>
            </a:avLst>
          </a:prstGeom>
          <a:solidFill>
            <a:srgbClr val="1A73E8"/>
          </a:solidFill>
          <a:ln w="12700">
            <a:solidFill>
              <a:srgbClr val="1A73E8"/>
            </a:solidFill>
            <a:prstDash val="solid"/>
          </a:ln>
        </p:spPr>
      </p:sp>
      <p:sp>
        <p:nvSpPr>
          <p:cNvPr id="10"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Eddyson Huamani</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Un solo pipeline CI/CD para AWS y GCP</a:t>
            </a:r>
            <a:endParaRPr lang="en-US" sz="2800" dirty="0"/>
          </a:p>
        </p:txBody>
      </p:sp>
      <p:sp>
        <p:nvSpPr>
          <p:cNvPr id="3" name="Shape 1"/>
          <p:cNvSpPr/>
          <p:nvPr/>
        </p:nvSpPr>
        <p:spPr>
          <a:xfrm>
            <a:off x="457200" y="1143000"/>
            <a:ext cx="1216152" cy="822960"/>
          </a:xfrm>
          <a:prstGeom prst="roundRect">
            <a:avLst>
              <a:gd name="adj" fmla="val 8889"/>
            </a:avLst>
          </a:prstGeom>
          <a:solidFill>
            <a:srgbClr val="F4EFEF"/>
          </a:solidFill>
          <a:ln w="12700">
            <a:solidFill>
              <a:srgbClr val="F4EFEF"/>
            </a:solidFill>
            <a:prstDash val="solid"/>
          </a:ln>
        </p:spPr>
      </p:sp>
      <p:sp>
        <p:nvSpPr>
          <p:cNvPr id="4" name="Text 2"/>
          <p:cNvSpPr txBox="1"/>
          <p:nvPr/>
        </p:nvSpPr>
        <p:spPr>
          <a:xfrm>
            <a:off x="502920" y="1143000"/>
            <a:ext cx="1124712" cy="822960"/>
          </a:xfrm>
          <a:prstGeom prst="rect">
            <a:avLst/>
          </a:prstGeom>
          <a:noFill/>
          <a:ln/>
        </p:spPr>
        <p:txBody>
          <a:bodyPr wrap="square" lIns="0" tIns="0" rIns="0" bIns="0" rtlCol="0" anchor="ctr"/>
          <a:lstStyle/>
          <a:p>
            <a:pPr algn="ctr" indent="0" marL="0">
              <a:buNone/>
            </a:pPr>
            <a:r>
              <a:rPr lang="en-US" sz="1200" b="1" dirty="0">
                <a:solidFill>
                  <a:srgbClr val="1F1F23"/>
                </a:solidFill>
              </a:rPr>
              <a:t>fmt -check</a:t>
            </a:r>
            <a:endParaRPr lang="en-US" sz="1200" dirty="0"/>
          </a:p>
        </p:txBody>
      </p:sp>
      <p:sp>
        <p:nvSpPr>
          <p:cNvPr id="5" name="Text 3"/>
          <p:cNvSpPr txBox="1"/>
          <p:nvPr/>
        </p:nvSpPr>
        <p:spPr>
          <a:xfrm>
            <a:off x="1673352" y="1143000"/>
            <a:ext cx="182880" cy="822960"/>
          </a:xfrm>
          <a:prstGeom prst="rect">
            <a:avLst/>
          </a:prstGeom>
          <a:noFill/>
          <a:ln/>
        </p:spPr>
        <p:txBody>
          <a:bodyPr wrap="square" lIns="0" tIns="0" rIns="0" bIns="0" rtlCol="0" anchor="ctr"/>
          <a:lstStyle/>
          <a:p>
            <a:pPr algn="ctr" indent="0" marL="0">
              <a:buNone/>
            </a:pPr>
            <a:r>
              <a:rPr lang="en-US" sz="2000" b="1" dirty="0">
                <a:solidFill>
                  <a:srgbClr val="5B5F66"/>
                </a:solidFill>
              </a:rPr>
              <a:t>›</a:t>
            </a:r>
            <a:endParaRPr lang="en-US" sz="2000" dirty="0"/>
          </a:p>
        </p:txBody>
      </p:sp>
      <p:sp>
        <p:nvSpPr>
          <p:cNvPr id="6" name="Shape 4"/>
          <p:cNvSpPr/>
          <p:nvPr/>
        </p:nvSpPr>
        <p:spPr>
          <a:xfrm>
            <a:off x="1856232" y="1143000"/>
            <a:ext cx="1216152" cy="822960"/>
          </a:xfrm>
          <a:prstGeom prst="roundRect">
            <a:avLst>
              <a:gd name="adj" fmla="val 8889"/>
            </a:avLst>
          </a:prstGeom>
          <a:solidFill>
            <a:srgbClr val="F4EFEF"/>
          </a:solidFill>
          <a:ln w="12700">
            <a:solidFill>
              <a:srgbClr val="F4EFEF"/>
            </a:solidFill>
            <a:prstDash val="solid"/>
          </a:ln>
        </p:spPr>
      </p:sp>
      <p:sp>
        <p:nvSpPr>
          <p:cNvPr id="7" name="Text 5"/>
          <p:cNvSpPr txBox="1"/>
          <p:nvPr/>
        </p:nvSpPr>
        <p:spPr>
          <a:xfrm>
            <a:off x="1901952" y="1143000"/>
            <a:ext cx="1124712" cy="822960"/>
          </a:xfrm>
          <a:prstGeom prst="rect">
            <a:avLst/>
          </a:prstGeom>
          <a:noFill/>
          <a:ln/>
        </p:spPr>
        <p:txBody>
          <a:bodyPr wrap="square" lIns="0" tIns="0" rIns="0" bIns="0" rtlCol="0" anchor="ctr"/>
          <a:lstStyle/>
          <a:p>
            <a:pPr algn="ctr" indent="0" marL="0">
              <a:buNone/>
            </a:pPr>
            <a:r>
              <a:rPr lang="en-US" sz="1200" b="1" dirty="0">
                <a:solidFill>
                  <a:srgbClr val="1F1F23"/>
                </a:solidFill>
              </a:rPr>
              <a:t>validate x3 entornos</a:t>
            </a:r>
            <a:endParaRPr lang="en-US" sz="1200" dirty="0"/>
          </a:p>
        </p:txBody>
      </p:sp>
      <p:sp>
        <p:nvSpPr>
          <p:cNvPr id="8" name="Text 6"/>
          <p:cNvSpPr txBox="1"/>
          <p:nvPr/>
        </p:nvSpPr>
        <p:spPr>
          <a:xfrm>
            <a:off x="3072384" y="1143000"/>
            <a:ext cx="182880" cy="822960"/>
          </a:xfrm>
          <a:prstGeom prst="rect">
            <a:avLst/>
          </a:prstGeom>
          <a:noFill/>
          <a:ln/>
        </p:spPr>
        <p:txBody>
          <a:bodyPr wrap="square" lIns="0" tIns="0" rIns="0" bIns="0" rtlCol="0" anchor="ctr"/>
          <a:lstStyle/>
          <a:p>
            <a:pPr algn="ctr" indent="0" marL="0">
              <a:buNone/>
            </a:pPr>
            <a:r>
              <a:rPr lang="en-US" sz="2000" b="1" dirty="0">
                <a:solidFill>
                  <a:srgbClr val="5B5F66"/>
                </a:solidFill>
              </a:rPr>
              <a:t>›</a:t>
            </a:r>
            <a:endParaRPr lang="en-US" sz="2000" dirty="0"/>
          </a:p>
        </p:txBody>
      </p:sp>
      <p:sp>
        <p:nvSpPr>
          <p:cNvPr id="9" name="Shape 7"/>
          <p:cNvSpPr/>
          <p:nvPr/>
        </p:nvSpPr>
        <p:spPr>
          <a:xfrm>
            <a:off x="3255264" y="1143000"/>
            <a:ext cx="1216152" cy="822960"/>
          </a:xfrm>
          <a:prstGeom prst="roundRect">
            <a:avLst>
              <a:gd name="adj" fmla="val 8889"/>
            </a:avLst>
          </a:prstGeom>
          <a:solidFill>
            <a:srgbClr val="F4EFEF"/>
          </a:solidFill>
          <a:ln w="12700">
            <a:solidFill>
              <a:srgbClr val="F4EFEF"/>
            </a:solidFill>
            <a:prstDash val="solid"/>
          </a:ln>
        </p:spPr>
      </p:sp>
      <p:sp>
        <p:nvSpPr>
          <p:cNvPr id="10" name="Text 8"/>
          <p:cNvSpPr txBox="1"/>
          <p:nvPr/>
        </p:nvSpPr>
        <p:spPr>
          <a:xfrm>
            <a:off x="3300984" y="1143000"/>
            <a:ext cx="1124712" cy="822960"/>
          </a:xfrm>
          <a:prstGeom prst="rect">
            <a:avLst/>
          </a:prstGeom>
          <a:noFill/>
          <a:ln/>
        </p:spPr>
        <p:txBody>
          <a:bodyPr wrap="square" lIns="0" tIns="0" rIns="0" bIns="0" rtlCol="0" anchor="ctr"/>
          <a:lstStyle/>
          <a:p>
            <a:pPr algn="ctr" indent="0" marL="0">
              <a:buNone/>
            </a:pPr>
            <a:r>
              <a:rPr lang="en-US" sz="1200" b="1" dirty="0">
                <a:solidFill>
                  <a:srgbClr val="1F1F23"/>
                </a:solidFill>
              </a:rPr>
              <a:t>esquema 50 sucursales</a:t>
            </a:r>
            <a:endParaRPr lang="en-US" sz="1200" dirty="0"/>
          </a:p>
        </p:txBody>
      </p:sp>
      <p:sp>
        <p:nvSpPr>
          <p:cNvPr id="11" name="Text 9"/>
          <p:cNvSpPr txBox="1"/>
          <p:nvPr/>
        </p:nvSpPr>
        <p:spPr>
          <a:xfrm>
            <a:off x="4471416" y="1143000"/>
            <a:ext cx="182880" cy="822960"/>
          </a:xfrm>
          <a:prstGeom prst="rect">
            <a:avLst/>
          </a:prstGeom>
          <a:noFill/>
          <a:ln/>
        </p:spPr>
        <p:txBody>
          <a:bodyPr wrap="square" lIns="0" tIns="0" rIns="0" bIns="0" rtlCol="0" anchor="ctr"/>
          <a:lstStyle/>
          <a:p>
            <a:pPr algn="ctr" indent="0" marL="0">
              <a:buNone/>
            </a:pPr>
            <a:r>
              <a:rPr lang="en-US" sz="2000" b="1" dirty="0">
                <a:solidFill>
                  <a:srgbClr val="5B5F66"/>
                </a:solidFill>
              </a:rPr>
              <a:t>›</a:t>
            </a:r>
            <a:endParaRPr lang="en-US" sz="2000" dirty="0"/>
          </a:p>
        </p:txBody>
      </p:sp>
      <p:sp>
        <p:nvSpPr>
          <p:cNvPr id="12" name="Shape 10"/>
          <p:cNvSpPr/>
          <p:nvPr/>
        </p:nvSpPr>
        <p:spPr>
          <a:xfrm>
            <a:off x="4654296" y="1143000"/>
            <a:ext cx="1216152" cy="822960"/>
          </a:xfrm>
          <a:prstGeom prst="roundRect">
            <a:avLst>
              <a:gd name="adj" fmla="val 8889"/>
            </a:avLst>
          </a:prstGeom>
          <a:solidFill>
            <a:srgbClr val="F4EFEF"/>
          </a:solidFill>
          <a:ln w="12700">
            <a:solidFill>
              <a:srgbClr val="F4EFEF"/>
            </a:solidFill>
            <a:prstDash val="solid"/>
          </a:ln>
        </p:spPr>
      </p:sp>
      <p:sp>
        <p:nvSpPr>
          <p:cNvPr id="13" name="Text 11"/>
          <p:cNvSpPr txBox="1"/>
          <p:nvPr/>
        </p:nvSpPr>
        <p:spPr>
          <a:xfrm>
            <a:off x="4700016" y="1143000"/>
            <a:ext cx="1124712" cy="822960"/>
          </a:xfrm>
          <a:prstGeom prst="rect">
            <a:avLst/>
          </a:prstGeom>
          <a:noFill/>
          <a:ln/>
        </p:spPr>
        <p:txBody>
          <a:bodyPr wrap="square" lIns="0" tIns="0" rIns="0" bIns="0" rtlCol="0" anchor="ctr"/>
          <a:lstStyle/>
          <a:p>
            <a:pPr algn="ctr" indent="0" marL="0">
              <a:buNone/>
            </a:pPr>
            <a:r>
              <a:rPr lang="en-US" sz="1200" b="1" dirty="0">
                <a:solidFill>
                  <a:srgbClr val="1F1F23"/>
                </a:solidFill>
              </a:rPr>
              <a:t>terraform test</a:t>
            </a:r>
            <a:endParaRPr lang="en-US" sz="1200" dirty="0"/>
          </a:p>
        </p:txBody>
      </p:sp>
      <p:sp>
        <p:nvSpPr>
          <p:cNvPr id="14" name="Text 12"/>
          <p:cNvSpPr txBox="1"/>
          <p:nvPr/>
        </p:nvSpPr>
        <p:spPr>
          <a:xfrm>
            <a:off x="5870448" y="1143000"/>
            <a:ext cx="182880" cy="822960"/>
          </a:xfrm>
          <a:prstGeom prst="rect">
            <a:avLst/>
          </a:prstGeom>
          <a:noFill/>
          <a:ln/>
        </p:spPr>
        <p:txBody>
          <a:bodyPr wrap="square" lIns="0" tIns="0" rIns="0" bIns="0" rtlCol="0" anchor="ctr"/>
          <a:lstStyle/>
          <a:p>
            <a:pPr algn="ctr" indent="0" marL="0">
              <a:buNone/>
            </a:pPr>
            <a:r>
              <a:rPr lang="en-US" sz="2000" b="1" dirty="0">
                <a:solidFill>
                  <a:srgbClr val="5B5F66"/>
                </a:solidFill>
              </a:rPr>
              <a:t>›</a:t>
            </a:r>
            <a:endParaRPr lang="en-US" sz="2000" dirty="0"/>
          </a:p>
        </p:txBody>
      </p:sp>
      <p:sp>
        <p:nvSpPr>
          <p:cNvPr id="15" name="Shape 13"/>
          <p:cNvSpPr/>
          <p:nvPr/>
        </p:nvSpPr>
        <p:spPr>
          <a:xfrm>
            <a:off x="6053328" y="1143000"/>
            <a:ext cx="1216152" cy="822960"/>
          </a:xfrm>
          <a:prstGeom prst="roundRect">
            <a:avLst>
              <a:gd name="adj" fmla="val 8889"/>
            </a:avLst>
          </a:prstGeom>
          <a:solidFill>
            <a:srgbClr val="E3EFE7"/>
          </a:solidFill>
          <a:ln w="12700">
            <a:solidFill>
              <a:srgbClr val="E3EFE7"/>
            </a:solidFill>
            <a:prstDash val="solid"/>
          </a:ln>
        </p:spPr>
      </p:sp>
      <p:sp>
        <p:nvSpPr>
          <p:cNvPr id="16" name="Text 14"/>
          <p:cNvSpPr txBox="1"/>
          <p:nvPr/>
        </p:nvSpPr>
        <p:spPr>
          <a:xfrm>
            <a:off x="6099048" y="1143000"/>
            <a:ext cx="1124712" cy="822960"/>
          </a:xfrm>
          <a:prstGeom prst="rect">
            <a:avLst/>
          </a:prstGeom>
          <a:noFill/>
          <a:ln/>
        </p:spPr>
        <p:txBody>
          <a:bodyPr wrap="square" lIns="0" tIns="0" rIns="0" bIns="0" rtlCol="0" anchor="ctr"/>
          <a:lstStyle/>
          <a:p>
            <a:pPr algn="ctr" indent="0" marL="0">
              <a:buNone/>
            </a:pPr>
            <a:r>
              <a:rPr lang="en-US" sz="1200" b="1" dirty="0">
                <a:solidFill>
                  <a:srgbClr val="1F1F23"/>
                </a:solidFill>
              </a:rPr>
              <a:t>TFLint</a:t>
            </a:r>
            <a:endParaRPr lang="en-US" sz="1200" dirty="0"/>
          </a:p>
        </p:txBody>
      </p:sp>
      <p:sp>
        <p:nvSpPr>
          <p:cNvPr id="17" name="Text 15"/>
          <p:cNvSpPr txBox="1"/>
          <p:nvPr/>
        </p:nvSpPr>
        <p:spPr>
          <a:xfrm>
            <a:off x="7269480" y="1143000"/>
            <a:ext cx="182880" cy="822960"/>
          </a:xfrm>
          <a:prstGeom prst="rect">
            <a:avLst/>
          </a:prstGeom>
          <a:noFill/>
          <a:ln/>
        </p:spPr>
        <p:txBody>
          <a:bodyPr wrap="square" lIns="0" tIns="0" rIns="0" bIns="0" rtlCol="0" anchor="ctr"/>
          <a:lstStyle/>
          <a:p>
            <a:pPr algn="ctr" indent="0" marL="0">
              <a:buNone/>
            </a:pPr>
            <a:r>
              <a:rPr lang="en-US" sz="2000" b="1" dirty="0">
                <a:solidFill>
                  <a:srgbClr val="5B5F66"/>
                </a:solidFill>
              </a:rPr>
              <a:t>›</a:t>
            </a:r>
            <a:endParaRPr lang="en-US" sz="2000" dirty="0"/>
          </a:p>
        </p:txBody>
      </p:sp>
      <p:sp>
        <p:nvSpPr>
          <p:cNvPr id="18" name="Shape 16"/>
          <p:cNvSpPr/>
          <p:nvPr/>
        </p:nvSpPr>
        <p:spPr>
          <a:xfrm>
            <a:off x="7452360" y="1143000"/>
            <a:ext cx="1216152" cy="822960"/>
          </a:xfrm>
          <a:prstGeom prst="roundRect">
            <a:avLst>
              <a:gd name="adj" fmla="val 8889"/>
            </a:avLst>
          </a:prstGeom>
          <a:solidFill>
            <a:srgbClr val="E3EFE7"/>
          </a:solidFill>
          <a:ln w="12700">
            <a:solidFill>
              <a:srgbClr val="E3EFE7"/>
            </a:solidFill>
            <a:prstDash val="solid"/>
          </a:ln>
        </p:spPr>
      </p:sp>
      <p:sp>
        <p:nvSpPr>
          <p:cNvPr id="19" name="Text 17"/>
          <p:cNvSpPr txBox="1"/>
          <p:nvPr/>
        </p:nvSpPr>
        <p:spPr>
          <a:xfrm>
            <a:off x="7498080" y="1143000"/>
            <a:ext cx="1124712" cy="822960"/>
          </a:xfrm>
          <a:prstGeom prst="rect">
            <a:avLst/>
          </a:prstGeom>
          <a:noFill/>
          <a:ln/>
        </p:spPr>
        <p:txBody>
          <a:bodyPr wrap="square" lIns="0" tIns="0" rIns="0" bIns="0" rtlCol="0" anchor="ctr"/>
          <a:lstStyle/>
          <a:p>
            <a:pPr algn="ctr" indent="0" marL="0">
              <a:buNone/>
            </a:pPr>
            <a:r>
              <a:rPr lang="en-US" sz="1200" b="1" dirty="0">
                <a:solidFill>
                  <a:srgbClr val="1F1F23"/>
                </a:solidFill>
              </a:rPr>
              <a:t>Checkov + gitleaks</a:t>
            </a:r>
            <a:endParaRPr lang="en-US" sz="1200" dirty="0"/>
          </a:p>
        </p:txBody>
      </p:sp>
      <p:sp>
        <p:nvSpPr>
          <p:cNvPr id="20" name="Text 18"/>
          <p:cNvSpPr txBox="1"/>
          <p:nvPr/>
        </p:nvSpPr>
        <p:spPr>
          <a:xfrm>
            <a:off x="457200" y="2240280"/>
            <a:ext cx="4023360" cy="365760"/>
          </a:xfrm>
          <a:prstGeom prst="rect">
            <a:avLst/>
          </a:prstGeom>
          <a:noFill/>
          <a:ln/>
        </p:spPr>
        <p:txBody>
          <a:bodyPr wrap="square" lIns="0" tIns="0" rIns="0" bIns="0" rtlCol="0" anchor="ctr"/>
          <a:lstStyle/>
          <a:p>
            <a:pPr indent="0" marL="0">
              <a:buNone/>
            </a:pPr>
            <a:r>
              <a:rPr lang="en-US" sz="1600" b="1" dirty="0">
                <a:solidFill>
                  <a:srgbClr val="2E7D4F"/>
                </a:solidFill>
              </a:rPr>
              <a:t>Procedimiento de aprobación</a:t>
            </a:r>
            <a:endParaRPr lang="en-US" sz="1600" dirty="0"/>
          </a:p>
        </p:txBody>
      </p:sp>
      <p:sp>
        <p:nvSpPr>
          <p:cNvPr id="21" name="Text 19"/>
          <p:cNvSpPr txBox="1"/>
          <p:nvPr/>
        </p:nvSpPr>
        <p:spPr>
          <a:xfrm>
            <a:off x="457200" y="2651760"/>
            <a:ext cx="4023360" cy="192024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00" dirty="0">
                <a:solidFill>
                  <a:srgbClr val="1F1F23"/>
                </a:solidFill>
              </a:rPr>
              <a:t>Rama feature/... → Pull Request a main</a:t>
            </a:r>
            <a:endParaRPr lang="en-US" sz="1300" dirty="0"/>
          </a:p>
          <a:p>
            <a:pPr marL="342900" indent="-342900">
              <a:spcAft>
                <a:spcPts val="600"/>
              </a:spcAft>
              <a:buSzPct val="100000"/>
              <a:buFont typeface="+mj-lt"/>
              <a:buAutoNum type="arabicPeriod" startAt="1"/>
            </a:pPr>
            <a:r>
              <a:rPr lang="en-US" sz="1300" dirty="0">
                <a:solidFill>
                  <a:srgbClr val="1F1F23"/>
                </a:solidFill>
              </a:rPr>
              <a:t>Validaciones automáticas en verde</a:t>
            </a:r>
            <a:endParaRPr lang="en-US" sz="1300" dirty="0"/>
          </a:p>
          <a:p>
            <a:pPr marL="342900" indent="-342900">
              <a:spcAft>
                <a:spcPts val="600"/>
              </a:spcAft>
              <a:buSzPct val="100000"/>
              <a:buFont typeface="+mj-lt"/>
              <a:buAutoNum type="arabicPeriod" startAt="1"/>
            </a:pPr>
            <a:r>
              <a:rPr lang="en-US" sz="1300" dirty="0">
                <a:solidFill>
                  <a:srgbClr val="1F1F23"/>
                </a:solidFill>
              </a:rPr>
              <a:t>Revisión humana con checklist del PR</a:t>
            </a:r>
            <a:endParaRPr lang="en-US" sz="1300" dirty="0"/>
          </a:p>
          <a:p>
            <a:pPr marL="342900" indent="-342900">
              <a:spcAft>
                <a:spcPts val="600"/>
              </a:spcAft>
              <a:buSzPct val="100000"/>
              <a:buFont typeface="+mj-lt"/>
              <a:buAutoNum type="arabicPeriod" startAt="1"/>
            </a:pPr>
            <a:r>
              <a:rPr lang="en-US" sz="1300" dirty="0">
                <a:solidFill>
                  <a:srgbClr val="1F1F23"/>
                </a:solidFill>
              </a:rPr>
              <a:t>Merge; el apply real queda documentado, no ejecutado</a:t>
            </a:r>
            <a:endParaRPr lang="en-US" sz="1300" dirty="0"/>
          </a:p>
        </p:txBody>
      </p:sp>
      <p:sp>
        <p:nvSpPr>
          <p:cNvPr id="22" name="Shape 20"/>
          <p:cNvSpPr/>
          <p:nvPr/>
        </p:nvSpPr>
        <p:spPr>
          <a:xfrm>
            <a:off x="4754880" y="2240280"/>
            <a:ext cx="3931920" cy="2331720"/>
          </a:xfrm>
          <a:prstGeom prst="roundRect">
            <a:avLst>
              <a:gd name="adj" fmla="val 3137"/>
            </a:avLst>
          </a:prstGeom>
          <a:solidFill>
            <a:srgbClr val="F4EFEF"/>
          </a:solidFill>
          <a:ln w="12700">
            <a:solidFill>
              <a:srgbClr val="F4EFEF"/>
            </a:solidFill>
            <a:prstDash val="solid"/>
          </a:ln>
        </p:spPr>
      </p:sp>
      <p:sp>
        <p:nvSpPr>
          <p:cNvPr id="23" name="Text 21"/>
          <p:cNvSpPr txBox="1"/>
          <p:nvPr/>
        </p:nvSpPr>
        <p:spPr>
          <a:xfrm>
            <a:off x="4937760" y="2331720"/>
            <a:ext cx="3566160" cy="365760"/>
          </a:xfrm>
          <a:prstGeom prst="rect">
            <a:avLst/>
          </a:prstGeom>
          <a:noFill/>
          <a:ln/>
        </p:spPr>
        <p:txBody>
          <a:bodyPr wrap="square" lIns="0" tIns="0" rIns="0" bIns="0" rtlCol="0" anchor="ctr"/>
          <a:lstStyle/>
          <a:p>
            <a:pPr indent="0" marL="0">
              <a:buNone/>
            </a:pPr>
            <a:r>
              <a:rPr lang="en-US" sz="1400" b="1" dirty="0">
                <a:solidFill>
                  <a:srgbClr val="6E1423"/>
                </a:solidFill>
              </a:rPr>
              <a:t>Por qué nunca hay apply contra la nube</a:t>
            </a:r>
            <a:endParaRPr lang="en-US" sz="1400" dirty="0"/>
          </a:p>
        </p:txBody>
      </p:sp>
      <p:sp>
        <p:nvSpPr>
          <p:cNvPr id="24" name="Text 22"/>
          <p:cNvSpPr txBox="1"/>
          <p:nvPr/>
        </p:nvSpPr>
        <p:spPr>
          <a:xfrm>
            <a:off x="4937760" y="2743200"/>
            <a:ext cx="3611880" cy="1783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F1F23"/>
                </a:solidFill>
              </a:rPr>
              <a:t>Sin credenciales y sin costos: init -backend=false</a:t>
            </a:r>
            <a:endParaRPr lang="en-US" sz="1200" dirty="0"/>
          </a:p>
          <a:p>
            <a:pPr marL="342900" indent="-342900">
              <a:spcAft>
                <a:spcPts val="600"/>
              </a:spcAft>
              <a:buSzPct val="100000"/>
              <a:buChar char="•"/>
            </a:pPr>
            <a:r>
              <a:rPr lang="en-US" sz="1200" dirty="0">
                <a:solidFill>
                  <a:srgbClr val="1F1F23"/>
                </a:solidFill>
              </a:rPr>
              <a:t>Futuro: GitHub OIDC hacia IAM / Workload Identity, sin claves estáticas</a:t>
            </a:r>
            <a:endParaRPr lang="en-US" sz="1200" dirty="0"/>
          </a:p>
          <a:p>
            <a:pPr marL="342900" indent="-342900">
              <a:spcAft>
                <a:spcPts val="600"/>
              </a:spcAft>
              <a:buSzPct val="100000"/>
              <a:buChar char="•"/>
            </a:pPr>
            <a:r>
              <a:rPr lang="en-US" sz="1200" dirty="0">
                <a:solidFill>
                  <a:srgbClr val="1F1F23"/>
                </a:solidFill>
              </a:rPr>
              <a:t>apply protegido por GitHub Environment con revisores</a:t>
            </a:r>
            <a:endParaRPr lang="en-US" sz="1200" dirty="0"/>
          </a:p>
        </p:txBody>
      </p:sp>
      <p:sp>
        <p:nvSpPr>
          <p:cNvPr id="25" name="Expositor"/>
          <p:cNvSpPr/>
          <p:nvPr/>
        </p:nvSpPr>
        <p:spPr>
          <a:xfrm>
            <a:off x="5989320" y="4736592"/>
            <a:ext cx="2240280" cy="292608"/>
          </a:xfrm>
          <a:prstGeom prst="roundRect">
            <a:avLst>
              <a:gd name="adj" fmla="val 50000"/>
            </a:avLst>
          </a:prstGeom>
          <a:solidFill>
            <a:srgbClr val="2E7D4F"/>
          </a:solidFill>
          <a:ln w="12700">
            <a:solidFill>
              <a:srgbClr val="2E7D4F"/>
            </a:solidFill>
            <a:prstDash val="solid"/>
          </a:ln>
        </p:spPr>
      </p:sp>
      <p:sp>
        <p:nvSpPr>
          <p:cNvPr id="26"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Huber Remuzgo</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Seguridad y laboratorio Docker ejecutado en CI</a:t>
            </a:r>
            <a:endParaRPr lang="en-US" sz="2800" dirty="0"/>
          </a:p>
        </p:txBody>
      </p:sp>
      <p:sp>
        <p:nvSpPr>
          <p:cNvPr id="3" name="Text 1"/>
          <p:cNvSpPr txBox="1"/>
          <p:nvPr/>
        </p:nvSpPr>
        <p:spPr>
          <a:xfrm>
            <a:off x="457200" y="1051560"/>
            <a:ext cx="3657600" cy="237744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2E7D4F"/>
                </a:solidFill>
              </a:rPr>
              <a:t>.gitignore:</a:t>
            </a:r>
            <a:pPr indent="0" marL="0">
              <a:spcAft>
                <a:spcPts val="800"/>
              </a:spcAft>
              <a:buNone/>
            </a:pPr>
            <a:r>
              <a:rPr lang="en-US" sz="1300" dirty="0">
                <a:solidFill>
                  <a:srgbClr val="1F1F23"/>
                </a:solidFill>
              </a:rPr>
              <a:t> excluye .tfstate, .tfvars, .pem, .key y .env.</a:t>
            </a:r>
            <a:endParaRPr lang="en-US" sz="1300" dirty="0"/>
          </a:p>
          <a:p>
            <a:pPr marL="342900" indent="-342900">
              <a:spcAft>
                <a:spcPts val="800"/>
              </a:spcAft>
              <a:buSzPct val="100000"/>
              <a:buChar char="•"/>
            </a:pPr>
            <a:r>
              <a:rPr lang="en-US" sz="1300" b="1" dirty="0">
                <a:solidFill>
                  <a:srgbClr val="2E7D4F"/>
                </a:solidFill>
              </a:rPr>
              <a:t>gitleaks:</a:t>
            </a:r>
            <a:pPr indent="0" marL="0">
              <a:spcAft>
                <a:spcPts val="800"/>
              </a:spcAft>
              <a:buNone/>
            </a:pPr>
            <a:r>
              <a:rPr lang="en-US" sz="1300" dirty="0">
                <a:solidFill>
                  <a:srgbClr val="1F1F23"/>
                </a:solidFill>
              </a:rPr>
              <a:t> escanea el historial en busca de secretos.</a:t>
            </a:r>
            <a:endParaRPr lang="en-US" sz="1300" dirty="0"/>
          </a:p>
          <a:p>
            <a:pPr marL="342900" indent="-342900">
              <a:spcAft>
                <a:spcPts val="800"/>
              </a:spcAft>
              <a:buSzPct val="100000"/>
              <a:buChar char="•"/>
            </a:pPr>
            <a:r>
              <a:rPr lang="en-US" sz="1300" b="1" dirty="0">
                <a:solidFill>
                  <a:srgbClr val="2E7D4F"/>
                </a:solidFill>
              </a:rPr>
              <a:t>Verificación extra:</a:t>
            </a:r>
            <a:pPr indent="0" marL="0">
              <a:spcAft>
                <a:spcPts val="800"/>
              </a:spcAft>
              <a:buNone/>
            </a:pPr>
            <a:r>
              <a:rPr lang="en-US" sz="1300" dirty="0">
                <a:solidFill>
                  <a:srgbClr val="1F1F23"/>
                </a:solidFill>
              </a:rPr>
              <a:t> falla el pipeline si se versiona un state o una clave.</a:t>
            </a:r>
            <a:endParaRPr lang="en-US" sz="1300" dirty="0"/>
          </a:p>
          <a:p>
            <a:pPr marL="342900" indent="-342900">
              <a:spcAft>
                <a:spcPts val="800"/>
              </a:spcAft>
              <a:buSzPct val="100000"/>
              <a:buChar char="•"/>
            </a:pPr>
            <a:r>
              <a:rPr lang="en-US" sz="1300" b="1" dirty="0">
                <a:solidFill>
                  <a:srgbClr val="2E7D4F"/>
                </a:solidFill>
              </a:rPr>
              <a:t>Mínimo privilegio:</a:t>
            </a:r>
            <a:pPr indent="0" marL="0">
              <a:spcAft>
                <a:spcPts val="800"/>
              </a:spcAft>
              <a:buNone/>
            </a:pPr>
            <a:r>
              <a:rPr lang="en-US" sz="1300" dirty="0">
                <a:solidFill>
                  <a:srgbClr val="1F1F23"/>
                </a:solidFill>
              </a:rPr>
              <a:t> roles IAM acotados por entorno, nunca administrador.</a:t>
            </a:r>
            <a:endParaRPr lang="en-US" sz="1300" dirty="0"/>
          </a:p>
        </p:txBody>
      </p:sp>
      <p:sp>
        <p:nvSpPr>
          <p:cNvPr id="4" name="Shape 2"/>
          <p:cNvSpPr/>
          <p:nvPr/>
        </p:nvSpPr>
        <p:spPr>
          <a:xfrm>
            <a:off x="457200" y="3611880"/>
            <a:ext cx="1737360" cy="868680"/>
          </a:xfrm>
          <a:prstGeom prst="roundRect">
            <a:avLst>
              <a:gd name="adj" fmla="val 8421"/>
            </a:avLst>
          </a:prstGeom>
          <a:solidFill>
            <a:srgbClr val="F4EFEF"/>
          </a:solidFill>
          <a:ln w="12700">
            <a:solidFill>
              <a:srgbClr val="F4EFEF"/>
            </a:solidFill>
            <a:prstDash val="solid"/>
          </a:ln>
        </p:spPr>
      </p:sp>
      <p:sp>
        <p:nvSpPr>
          <p:cNvPr id="5" name="Text 3"/>
          <p:cNvSpPr txBox="1"/>
          <p:nvPr/>
        </p:nvSpPr>
        <p:spPr>
          <a:xfrm>
            <a:off x="457200" y="3657600"/>
            <a:ext cx="1737360" cy="502920"/>
          </a:xfrm>
          <a:prstGeom prst="rect">
            <a:avLst/>
          </a:prstGeom>
          <a:noFill/>
          <a:ln/>
        </p:spPr>
        <p:txBody>
          <a:bodyPr wrap="square" lIns="0" tIns="0" rIns="0" bIns="0" rtlCol="0" anchor="ctr"/>
          <a:lstStyle/>
          <a:p>
            <a:pPr algn="ctr" indent="0" marL="0">
              <a:buNone/>
            </a:pPr>
            <a:r>
              <a:rPr lang="en-US" sz="2800" b="1" dirty="0">
                <a:solidFill>
                  <a:srgbClr val="2E7D4F"/>
                </a:solidFill>
              </a:rPr>
              <a:t>4/4</a:t>
            </a:r>
            <a:endParaRPr lang="en-US" sz="2800" dirty="0"/>
          </a:p>
        </p:txBody>
      </p:sp>
      <p:sp>
        <p:nvSpPr>
          <p:cNvPr id="6" name="Text 4"/>
          <p:cNvSpPr txBox="1"/>
          <p:nvPr/>
        </p:nvSpPr>
        <p:spPr>
          <a:xfrm>
            <a:off x="457200" y="4142232"/>
            <a:ext cx="1737360" cy="292608"/>
          </a:xfrm>
          <a:prstGeom prst="rect">
            <a:avLst/>
          </a:prstGeom>
          <a:noFill/>
          <a:ln/>
        </p:spPr>
        <p:txBody>
          <a:bodyPr wrap="square" lIns="0" tIns="0" rIns="0" bIns="0" rtlCol="0" anchor="t"/>
          <a:lstStyle/>
          <a:p>
            <a:pPr algn="ctr" indent="0" marL="0">
              <a:buNone/>
            </a:pPr>
            <a:r>
              <a:rPr lang="en-US" sz="1100" dirty="0">
                <a:solidFill>
                  <a:srgbClr val="5B5F66"/>
                </a:solidFill>
              </a:rPr>
              <a:t>contenedores healthy</a:t>
            </a:r>
            <a:endParaRPr lang="en-US" sz="1100" dirty="0"/>
          </a:p>
        </p:txBody>
      </p:sp>
      <p:sp>
        <p:nvSpPr>
          <p:cNvPr id="7" name="Shape 5"/>
          <p:cNvSpPr/>
          <p:nvPr/>
        </p:nvSpPr>
        <p:spPr>
          <a:xfrm>
            <a:off x="2377440" y="3611880"/>
            <a:ext cx="1737360" cy="868680"/>
          </a:xfrm>
          <a:prstGeom prst="roundRect">
            <a:avLst>
              <a:gd name="adj" fmla="val 8421"/>
            </a:avLst>
          </a:prstGeom>
          <a:solidFill>
            <a:srgbClr val="F4EFEF"/>
          </a:solidFill>
          <a:ln w="12700">
            <a:solidFill>
              <a:srgbClr val="F4EFEF"/>
            </a:solidFill>
            <a:prstDash val="solid"/>
          </a:ln>
        </p:spPr>
      </p:sp>
      <p:sp>
        <p:nvSpPr>
          <p:cNvPr id="8" name="Text 6"/>
          <p:cNvSpPr txBox="1"/>
          <p:nvPr/>
        </p:nvSpPr>
        <p:spPr>
          <a:xfrm>
            <a:off x="2377440" y="3657600"/>
            <a:ext cx="1737360" cy="502920"/>
          </a:xfrm>
          <a:prstGeom prst="rect">
            <a:avLst/>
          </a:prstGeom>
          <a:noFill/>
          <a:ln/>
        </p:spPr>
        <p:txBody>
          <a:bodyPr wrap="square" lIns="0" tIns="0" rIns="0" bIns="0" rtlCol="0" anchor="ctr"/>
          <a:lstStyle/>
          <a:p>
            <a:pPr algn="ctr" indent="0" marL="0">
              <a:buNone/>
            </a:pPr>
            <a:r>
              <a:rPr lang="en-US" sz="2800" b="1" dirty="0">
                <a:solidFill>
                  <a:srgbClr val="2E7D4F"/>
                </a:solidFill>
              </a:rPr>
              <a:t>HTTP 200</a:t>
            </a:r>
            <a:endParaRPr lang="en-US" sz="2800" dirty="0"/>
          </a:p>
        </p:txBody>
      </p:sp>
      <p:sp>
        <p:nvSpPr>
          <p:cNvPr id="9" name="Text 7"/>
          <p:cNvSpPr txBox="1"/>
          <p:nvPr/>
        </p:nvSpPr>
        <p:spPr>
          <a:xfrm>
            <a:off x="2377440" y="4142232"/>
            <a:ext cx="1737360" cy="292608"/>
          </a:xfrm>
          <a:prstGeom prst="rect">
            <a:avLst/>
          </a:prstGeom>
          <a:noFill/>
          <a:ln/>
        </p:spPr>
        <p:txBody>
          <a:bodyPr wrap="square" lIns="0" tIns="0" rIns="0" bIns="0" rtlCol="0" anchor="t"/>
          <a:lstStyle/>
          <a:p>
            <a:pPr algn="ctr" indent="0" marL="0">
              <a:buNone/>
            </a:pPr>
            <a:r>
              <a:rPr lang="en-US" sz="1100" dirty="0">
                <a:solidFill>
                  <a:srgbClr val="5B5F66"/>
                </a:solidFill>
              </a:rPr>
              <a:t>en los 4 puertos</a:t>
            </a:r>
            <a:endParaRPr lang="en-US" sz="1100" dirty="0"/>
          </a:p>
        </p:txBody>
      </p:sp>
      <p:pic>
        <p:nvPicPr>
          <p:cNvPr id="10" name="Image 0" descr="/tmp/claude-0/-home-claude/01c0e5a6-0dc4-54dc-9bf7-5ed18b053e74/scratchpad/img/fig-docker-lab.png">    </p:cNvPr>
          <p:cNvPicPr>
            <a:picLocks noChangeAspect="1"/>
          </p:cNvPicPr>
          <p:nvPr/>
        </p:nvPicPr>
        <p:blipFill>
          <a:blip r:embed="rId1"/>
          <a:stretch>
            <a:fillRect/>
          </a:stretch>
        </p:blipFill>
        <p:spPr>
          <a:xfrm>
            <a:off x="4389120" y="1632306"/>
            <a:ext cx="4297680" cy="2358949"/>
          </a:xfrm>
          <a:prstGeom prst="rect">
            <a:avLst/>
          </a:prstGeom>
        </p:spPr>
      </p:pic>
      <p:sp>
        <p:nvSpPr>
          <p:cNvPr id="11" name="Expositor"/>
          <p:cNvSpPr/>
          <p:nvPr/>
        </p:nvSpPr>
        <p:spPr>
          <a:xfrm>
            <a:off x="5989320" y="4736592"/>
            <a:ext cx="2240280" cy="292608"/>
          </a:xfrm>
          <a:prstGeom prst="roundRect">
            <a:avLst>
              <a:gd name="adj" fmla="val 50000"/>
            </a:avLst>
          </a:prstGeom>
          <a:solidFill>
            <a:srgbClr val="2E7D4F"/>
          </a:solidFill>
          <a:ln w="12700">
            <a:solidFill>
              <a:srgbClr val="2E7D4F"/>
            </a:solidFill>
            <a:prstDash val="solid"/>
          </a:ln>
        </p:spPr>
      </p:sp>
      <p:sp>
        <p:nvSpPr>
          <p:cNvPr id="12"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Huber Remuzgo</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Terraform State: diseño empresarial y laboratorio real</a:t>
            </a:r>
            <a:endParaRPr lang="en-US" sz="2800" dirty="0"/>
          </a:p>
        </p:txBody>
      </p:sp>
      <p:sp>
        <p:nvSpPr>
          <p:cNvPr id="3" name="Shape 1"/>
          <p:cNvSpPr/>
          <p:nvPr/>
        </p:nvSpPr>
        <p:spPr>
          <a:xfrm>
            <a:off x="457200" y="1051560"/>
            <a:ext cx="2606040" cy="2514600"/>
          </a:xfrm>
          <a:prstGeom prst="roundRect">
            <a:avLst>
              <a:gd name="adj" fmla="val 2909"/>
            </a:avLst>
          </a:prstGeom>
          <a:solidFill>
            <a:srgbClr val="F4EFEF"/>
          </a:solidFill>
          <a:ln w="12700">
            <a:solidFill>
              <a:srgbClr val="F4EFEF"/>
            </a:solidFill>
            <a:prstDash val="solid"/>
          </a:ln>
        </p:spPr>
      </p:sp>
      <p:sp>
        <p:nvSpPr>
          <p:cNvPr id="4" name="Text 2"/>
          <p:cNvSpPr txBox="1"/>
          <p:nvPr/>
        </p:nvSpPr>
        <p:spPr>
          <a:xfrm>
            <a:off x="640080" y="1143000"/>
            <a:ext cx="2286000" cy="411480"/>
          </a:xfrm>
          <a:prstGeom prst="rect">
            <a:avLst/>
          </a:prstGeom>
          <a:noFill/>
          <a:ln/>
        </p:spPr>
        <p:txBody>
          <a:bodyPr wrap="square" lIns="0" tIns="0" rIns="0" bIns="0" rtlCol="0" anchor="ctr"/>
          <a:lstStyle/>
          <a:p>
            <a:pPr indent="0" marL="0">
              <a:buNone/>
            </a:pPr>
            <a:r>
              <a:rPr lang="en-US" sz="1500" b="1" dirty="0">
                <a:solidFill>
                  <a:srgbClr val="E07B00"/>
                </a:solidFill>
              </a:rPr>
              <a:t>AWS (diseño)</a:t>
            </a:r>
            <a:endParaRPr lang="en-US" sz="1500" dirty="0"/>
          </a:p>
        </p:txBody>
      </p:sp>
      <p:sp>
        <p:nvSpPr>
          <p:cNvPr id="5" name="Text 3"/>
          <p:cNvSpPr txBox="1"/>
          <p:nvPr/>
        </p:nvSpPr>
        <p:spPr>
          <a:xfrm>
            <a:off x="640080" y="164592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F1F23"/>
                </a:solidFill>
              </a:rPr>
              <a:t>Backend S3 por entorno</a:t>
            </a:r>
            <a:endParaRPr lang="en-US" sz="1200" dirty="0"/>
          </a:p>
          <a:p>
            <a:pPr marL="342900" indent="-342900">
              <a:spcAft>
                <a:spcPts val="400"/>
              </a:spcAft>
              <a:buSzPct val="100000"/>
              <a:buChar char="•"/>
            </a:pPr>
            <a:r>
              <a:rPr lang="en-US" sz="1200" dirty="0">
                <a:solidFill>
                  <a:srgbClr val="1F1F23"/>
                </a:solidFill>
              </a:rPr>
              <a:t>Versionado + cifrado SSE-KMS</a:t>
            </a:r>
            <a:endParaRPr lang="en-US" sz="1200" dirty="0"/>
          </a:p>
          <a:p>
            <a:pPr marL="342900" indent="-342900">
              <a:spcAft>
                <a:spcPts val="400"/>
              </a:spcAft>
              <a:buSzPct val="100000"/>
              <a:buChar char="•"/>
            </a:pPr>
            <a:r>
              <a:rPr lang="en-US" sz="1200" dirty="0">
                <a:solidFill>
                  <a:srgbClr val="1F1F23"/>
                </a:solidFill>
              </a:rPr>
              <a:t>Locking: DynamoDB o use_lockfile</a:t>
            </a:r>
            <a:endParaRPr lang="en-US" sz="1200" dirty="0"/>
          </a:p>
          <a:p>
            <a:pPr marL="342900" indent="-342900">
              <a:spcAft>
                <a:spcPts val="400"/>
              </a:spcAft>
              <a:buSzPct val="100000"/>
              <a:buChar char="•"/>
            </a:pPr>
            <a:r>
              <a:rPr lang="en-US" sz="1200" dirty="0">
                <a:solidFill>
                  <a:srgbClr val="1F1F23"/>
                </a:solidFill>
              </a:rPr>
              <a:t>IAM acotado al prefijo</a:t>
            </a:r>
            <a:endParaRPr lang="en-US" sz="1200" dirty="0"/>
          </a:p>
        </p:txBody>
      </p:sp>
      <p:sp>
        <p:nvSpPr>
          <p:cNvPr id="6" name="Shape 4"/>
          <p:cNvSpPr/>
          <p:nvPr/>
        </p:nvSpPr>
        <p:spPr>
          <a:xfrm>
            <a:off x="3273552" y="1051560"/>
            <a:ext cx="2606040" cy="2514600"/>
          </a:xfrm>
          <a:prstGeom prst="roundRect">
            <a:avLst>
              <a:gd name="adj" fmla="val 2909"/>
            </a:avLst>
          </a:prstGeom>
          <a:solidFill>
            <a:srgbClr val="F4EFEF"/>
          </a:solidFill>
          <a:ln w="12700">
            <a:solidFill>
              <a:srgbClr val="F4EFEF"/>
            </a:solidFill>
            <a:prstDash val="solid"/>
          </a:ln>
        </p:spPr>
      </p:sp>
      <p:sp>
        <p:nvSpPr>
          <p:cNvPr id="7" name="Text 5"/>
          <p:cNvSpPr txBox="1"/>
          <p:nvPr/>
        </p:nvSpPr>
        <p:spPr>
          <a:xfrm>
            <a:off x="3456432" y="1143000"/>
            <a:ext cx="2286000" cy="411480"/>
          </a:xfrm>
          <a:prstGeom prst="rect">
            <a:avLst/>
          </a:prstGeom>
          <a:noFill/>
          <a:ln/>
        </p:spPr>
        <p:txBody>
          <a:bodyPr wrap="square" lIns="0" tIns="0" rIns="0" bIns="0" rtlCol="0" anchor="ctr"/>
          <a:lstStyle/>
          <a:p>
            <a:pPr indent="0" marL="0">
              <a:buNone/>
            </a:pPr>
            <a:r>
              <a:rPr lang="en-US" sz="1500" b="1" dirty="0">
                <a:solidFill>
                  <a:srgbClr val="1A73E8"/>
                </a:solidFill>
              </a:rPr>
              <a:t>GCP (diseño)</a:t>
            </a:r>
            <a:endParaRPr lang="en-US" sz="1500" dirty="0"/>
          </a:p>
        </p:txBody>
      </p:sp>
      <p:sp>
        <p:nvSpPr>
          <p:cNvPr id="8" name="Text 6"/>
          <p:cNvSpPr txBox="1"/>
          <p:nvPr/>
        </p:nvSpPr>
        <p:spPr>
          <a:xfrm>
            <a:off x="3456432" y="164592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F1F23"/>
                </a:solidFill>
              </a:rPr>
              <a:t>Backend GCS por entorno</a:t>
            </a:r>
            <a:endParaRPr lang="en-US" sz="1200" dirty="0"/>
          </a:p>
          <a:p>
            <a:pPr marL="342900" indent="-342900">
              <a:spcAft>
                <a:spcPts val="400"/>
              </a:spcAft>
              <a:buSzPct val="100000"/>
              <a:buChar char="•"/>
            </a:pPr>
            <a:r>
              <a:rPr lang="en-US" sz="1200" dirty="0">
                <a:solidFill>
                  <a:srgbClr val="1F1F23"/>
                </a:solidFill>
              </a:rPr>
              <a:t>Object Versioning</a:t>
            </a:r>
            <a:endParaRPr lang="en-US" sz="1200" dirty="0"/>
          </a:p>
          <a:p>
            <a:pPr marL="342900" indent="-342900">
              <a:spcAft>
                <a:spcPts val="400"/>
              </a:spcAft>
              <a:buSzPct val="100000"/>
              <a:buChar char="•"/>
            </a:pPr>
            <a:r>
              <a:rPr lang="en-US" sz="1200" dirty="0">
                <a:solidFill>
                  <a:srgbClr val="1F1F23"/>
                </a:solidFill>
              </a:rPr>
              <a:t>Locking nativo de GCS</a:t>
            </a:r>
            <a:endParaRPr lang="en-US" sz="1200" dirty="0"/>
          </a:p>
          <a:p>
            <a:pPr marL="342900" indent="-342900">
              <a:spcAft>
                <a:spcPts val="400"/>
              </a:spcAft>
              <a:buSzPct val="100000"/>
              <a:buChar char="•"/>
            </a:pPr>
            <a:r>
              <a:rPr lang="en-US" sz="1200" dirty="0">
                <a:solidFill>
                  <a:srgbClr val="1F1F23"/>
                </a:solidFill>
              </a:rPr>
              <a:t>Cuenta de servicio acotada</a:t>
            </a:r>
            <a:endParaRPr lang="en-US" sz="1200" dirty="0"/>
          </a:p>
        </p:txBody>
      </p:sp>
      <p:sp>
        <p:nvSpPr>
          <p:cNvPr id="9" name="Shape 7"/>
          <p:cNvSpPr/>
          <p:nvPr/>
        </p:nvSpPr>
        <p:spPr>
          <a:xfrm>
            <a:off x="6089904" y="1051560"/>
            <a:ext cx="2606040" cy="2514600"/>
          </a:xfrm>
          <a:prstGeom prst="roundRect">
            <a:avLst>
              <a:gd name="adj" fmla="val 2909"/>
            </a:avLst>
          </a:prstGeom>
          <a:solidFill>
            <a:srgbClr val="F4EFEF"/>
          </a:solidFill>
          <a:ln w="12700">
            <a:solidFill>
              <a:srgbClr val="F4EFEF"/>
            </a:solidFill>
            <a:prstDash val="solid"/>
          </a:ln>
        </p:spPr>
      </p:sp>
      <p:sp>
        <p:nvSpPr>
          <p:cNvPr id="10" name="Text 8"/>
          <p:cNvSpPr txBox="1"/>
          <p:nvPr/>
        </p:nvSpPr>
        <p:spPr>
          <a:xfrm>
            <a:off x="6272784" y="1143000"/>
            <a:ext cx="2286000" cy="411480"/>
          </a:xfrm>
          <a:prstGeom prst="rect">
            <a:avLst/>
          </a:prstGeom>
          <a:noFill/>
          <a:ln/>
        </p:spPr>
        <p:txBody>
          <a:bodyPr wrap="square" lIns="0" tIns="0" rIns="0" bIns="0" rtlCol="0" anchor="ctr"/>
          <a:lstStyle/>
          <a:p>
            <a:pPr indent="0" marL="0">
              <a:buNone/>
            </a:pPr>
            <a:r>
              <a:rPr lang="en-US" sz="1500" b="1" dirty="0">
                <a:solidFill>
                  <a:srgbClr val="2E7D4F"/>
                </a:solidFill>
              </a:rPr>
              <a:t>Laboratorio (ejecutado)</a:t>
            </a:r>
            <a:endParaRPr lang="en-US" sz="1500" dirty="0"/>
          </a:p>
        </p:txBody>
      </p:sp>
      <p:sp>
        <p:nvSpPr>
          <p:cNvPr id="11" name="Text 9"/>
          <p:cNvSpPr txBox="1"/>
          <p:nvPr/>
        </p:nvSpPr>
        <p:spPr>
          <a:xfrm>
            <a:off x="6272784" y="164592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F1F23"/>
                </a:solidFill>
              </a:rPr>
              <a:t>Backend local</a:t>
            </a:r>
            <a:endParaRPr lang="en-US" sz="1200" dirty="0"/>
          </a:p>
          <a:p>
            <a:pPr marL="342900" indent="-342900">
              <a:spcAft>
                <a:spcPts val="400"/>
              </a:spcAft>
              <a:buSzPct val="100000"/>
              <a:buChar char="•"/>
            </a:pPr>
            <a:r>
              <a:rPr lang="en-US" sz="1200" dirty="0">
                <a:solidFill>
                  <a:srgbClr val="1F1F23"/>
                </a:solidFill>
              </a:rPr>
              <a:t>init → apply → state list/show</a:t>
            </a:r>
            <a:endParaRPr lang="en-US" sz="1200" dirty="0"/>
          </a:p>
          <a:p>
            <a:pPr marL="342900" indent="-342900">
              <a:spcAft>
                <a:spcPts val="400"/>
              </a:spcAft>
              <a:buSzPct val="100000"/>
              <a:buChar char="•"/>
            </a:pPr>
            <a:r>
              <a:rPr lang="en-US" sz="1200" dirty="0">
                <a:solidFill>
                  <a:srgbClr val="1F1F23"/>
                </a:solidFill>
              </a:rPr>
              <a:t>modificar → plan → apply</a:t>
            </a:r>
            <a:endParaRPr lang="en-US" sz="1200" dirty="0"/>
          </a:p>
          <a:p>
            <a:pPr marL="342900" indent="-342900">
              <a:spcAft>
                <a:spcPts val="400"/>
              </a:spcAft>
              <a:buSzPct val="100000"/>
              <a:buChar char="•"/>
            </a:pPr>
            <a:r>
              <a:rPr lang="en-US" sz="1200" dirty="0">
                <a:solidFill>
                  <a:srgbClr val="1F1F23"/>
                </a:solidFill>
              </a:rPr>
              <a:t>destroy y limpieza</a:t>
            </a:r>
            <a:endParaRPr lang="en-US" sz="1200" dirty="0"/>
          </a:p>
        </p:txBody>
      </p:sp>
      <p:sp>
        <p:nvSpPr>
          <p:cNvPr id="12" name="Text 10"/>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300" i="1" dirty="0">
                <a:solidFill>
                  <a:srgbClr val="6E1423"/>
                </a:solidFill>
              </a:rPr>
              <a:t>El state guarda atributos sensibles en texto plano: nunca se versiona en Git y su acceso se trata como acceso a secretos.</a:t>
            </a:r>
            <a:endParaRPr lang="en-US" sz="1300" dirty="0"/>
          </a:p>
        </p:txBody>
      </p:sp>
      <p:sp>
        <p:nvSpPr>
          <p:cNvPr id="13" name="Expositor"/>
          <p:cNvSpPr/>
          <p:nvPr/>
        </p:nvSpPr>
        <p:spPr>
          <a:xfrm>
            <a:off x="5989320" y="4736592"/>
            <a:ext cx="2240280" cy="292608"/>
          </a:xfrm>
          <a:prstGeom prst="roundRect">
            <a:avLst>
              <a:gd name="adj" fmla="val 50000"/>
            </a:avLst>
          </a:prstGeom>
          <a:solidFill>
            <a:srgbClr val="B5162B"/>
          </a:solidFill>
          <a:ln w="12700">
            <a:solidFill>
              <a:srgbClr val="B5162B"/>
            </a:solidFill>
            <a:prstDash val="solid"/>
          </a:ln>
        </p:spPr>
      </p:sp>
      <p:sp>
        <p:nvSpPr>
          <p:cNvPr id="14"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Karen Quispe</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Infrastructure Drift: detección y reconciliación</a:t>
            </a:r>
            <a:endParaRPr lang="en-US" sz="2800" dirty="0"/>
          </a:p>
        </p:txBody>
      </p:sp>
      <p:sp>
        <p:nvSpPr>
          <p:cNvPr id="3" name="Shape 1"/>
          <p:cNvSpPr/>
          <p:nvPr/>
        </p:nvSpPr>
        <p:spPr>
          <a:xfrm>
            <a:off x="457200" y="1051560"/>
            <a:ext cx="457200" cy="457200"/>
          </a:xfrm>
          <a:prstGeom prst="ellipse">
            <a:avLst/>
          </a:prstGeom>
          <a:solidFill>
            <a:srgbClr val="6E1423"/>
          </a:solidFill>
          <a:ln w="12700">
            <a:solidFill>
              <a:srgbClr val="6E1423"/>
            </a:solidFill>
            <a:prstDash val="solid"/>
          </a:ln>
        </p:spPr>
      </p:sp>
      <p:sp>
        <p:nvSpPr>
          <p:cNvPr id="4" name="Text 2"/>
          <p:cNvSpPr txBox="1"/>
          <p:nvPr/>
        </p:nvSpPr>
        <p:spPr>
          <a:xfrm>
            <a:off x="457200" y="10515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005840"/>
            <a:ext cx="2377440" cy="548640"/>
          </a:xfrm>
          <a:prstGeom prst="rect">
            <a:avLst/>
          </a:prstGeom>
          <a:noFill/>
          <a:ln/>
        </p:spPr>
        <p:txBody>
          <a:bodyPr wrap="square" lIns="0" tIns="0" rIns="0" bIns="0" rtlCol="0" anchor="ctr"/>
          <a:lstStyle/>
          <a:p>
            <a:pPr indent="0" marL="0">
              <a:buNone/>
            </a:pPr>
            <a:r>
              <a:rPr lang="en-US" sz="1300" b="1" dirty="0">
                <a:solidFill>
                  <a:srgbClr val="1F1F23"/>
                </a:solidFill>
              </a:rPr>
              <a:t>apply</a:t>
            </a:r>
            <a:endParaRPr lang="en-US" sz="1300" dirty="0"/>
          </a:p>
          <a:p>
            <a:pPr indent="0" marL="0">
              <a:buNone/>
            </a:pPr>
            <a:r>
              <a:rPr lang="en-US" sz="1100" dirty="0">
                <a:solidFill>
                  <a:srgbClr val="5B5F66"/>
                </a:solidFill>
              </a:rPr>
              <a:t>crea el recurso</a:t>
            </a:r>
            <a:endParaRPr lang="en-US" sz="1300" dirty="0"/>
          </a:p>
        </p:txBody>
      </p:sp>
      <p:sp>
        <p:nvSpPr>
          <p:cNvPr id="6" name="Shape 4"/>
          <p:cNvSpPr/>
          <p:nvPr/>
        </p:nvSpPr>
        <p:spPr>
          <a:xfrm>
            <a:off x="457200" y="1746504"/>
            <a:ext cx="457200" cy="457200"/>
          </a:xfrm>
          <a:prstGeom prst="ellipse">
            <a:avLst/>
          </a:prstGeom>
          <a:solidFill>
            <a:srgbClr val="B5162B"/>
          </a:solidFill>
          <a:ln w="12700">
            <a:solidFill>
              <a:srgbClr val="B5162B"/>
            </a:solidFill>
            <a:prstDash val="solid"/>
          </a:ln>
        </p:spPr>
      </p:sp>
      <p:sp>
        <p:nvSpPr>
          <p:cNvPr id="7" name="Text 5"/>
          <p:cNvSpPr txBox="1"/>
          <p:nvPr/>
        </p:nvSpPr>
        <p:spPr>
          <a:xfrm>
            <a:off x="457200" y="17465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00784"/>
            <a:ext cx="2377440" cy="548640"/>
          </a:xfrm>
          <a:prstGeom prst="rect">
            <a:avLst/>
          </a:prstGeom>
          <a:noFill/>
          <a:ln/>
        </p:spPr>
        <p:txBody>
          <a:bodyPr wrap="square" lIns="0" tIns="0" rIns="0" bIns="0" rtlCol="0" anchor="ctr"/>
          <a:lstStyle/>
          <a:p>
            <a:pPr indent="0" marL="0">
              <a:buNone/>
            </a:pPr>
            <a:r>
              <a:rPr lang="en-US" sz="1300" b="1" dirty="0">
                <a:solidFill>
                  <a:srgbClr val="1F1F23"/>
                </a:solidFill>
              </a:rPr>
              <a:t>cambio manual</a:t>
            </a:r>
            <a:endParaRPr lang="en-US" sz="1300" dirty="0"/>
          </a:p>
          <a:p>
            <a:pPr indent="0" marL="0">
              <a:buNone/>
            </a:pPr>
            <a:r>
              <a:rPr lang="en-US" sz="1100" dirty="0">
                <a:solidFill>
                  <a:srgbClr val="5B5F66"/>
                </a:solidFill>
              </a:rPr>
              <a:t>fuera de Terraform</a:t>
            </a:r>
            <a:endParaRPr lang="en-US" sz="1300" dirty="0"/>
          </a:p>
        </p:txBody>
      </p:sp>
      <p:sp>
        <p:nvSpPr>
          <p:cNvPr id="9" name="Shape 7"/>
          <p:cNvSpPr/>
          <p:nvPr/>
        </p:nvSpPr>
        <p:spPr>
          <a:xfrm>
            <a:off x="457200" y="2441448"/>
            <a:ext cx="457200" cy="457200"/>
          </a:xfrm>
          <a:prstGeom prst="ellipse">
            <a:avLst/>
          </a:prstGeom>
          <a:solidFill>
            <a:srgbClr val="6E1423"/>
          </a:solidFill>
          <a:ln w="12700">
            <a:solidFill>
              <a:srgbClr val="6E1423"/>
            </a:solidFill>
            <a:prstDash val="solid"/>
          </a:ln>
        </p:spPr>
      </p:sp>
      <p:sp>
        <p:nvSpPr>
          <p:cNvPr id="10" name="Text 8"/>
          <p:cNvSpPr txBox="1"/>
          <p:nvPr/>
        </p:nvSpPr>
        <p:spPr>
          <a:xfrm>
            <a:off x="457200" y="24414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95728"/>
            <a:ext cx="2377440" cy="548640"/>
          </a:xfrm>
          <a:prstGeom prst="rect">
            <a:avLst/>
          </a:prstGeom>
          <a:noFill/>
          <a:ln/>
        </p:spPr>
        <p:txBody>
          <a:bodyPr wrap="square" lIns="0" tIns="0" rIns="0" bIns="0" rtlCol="0" anchor="ctr"/>
          <a:lstStyle/>
          <a:p>
            <a:pPr indent="0" marL="0">
              <a:buNone/>
            </a:pPr>
            <a:r>
              <a:rPr lang="en-US" sz="1300" b="1" dirty="0">
                <a:solidFill>
                  <a:srgbClr val="1F1F23"/>
                </a:solidFill>
              </a:rPr>
              <a:t>plan</a:t>
            </a:r>
            <a:endParaRPr lang="en-US" sz="1300" dirty="0"/>
          </a:p>
          <a:p>
            <a:pPr indent="0" marL="0">
              <a:buNone/>
            </a:pPr>
            <a:r>
              <a:rPr lang="en-US" sz="1100" dirty="0">
                <a:solidFill>
                  <a:srgbClr val="5B5F66"/>
                </a:solidFill>
              </a:rPr>
              <a:t>detecta el drift</a:t>
            </a:r>
            <a:endParaRPr lang="en-US" sz="1300" dirty="0"/>
          </a:p>
        </p:txBody>
      </p:sp>
      <p:sp>
        <p:nvSpPr>
          <p:cNvPr id="12" name="Shape 10"/>
          <p:cNvSpPr/>
          <p:nvPr/>
        </p:nvSpPr>
        <p:spPr>
          <a:xfrm>
            <a:off x="457200" y="3136392"/>
            <a:ext cx="457200" cy="457200"/>
          </a:xfrm>
          <a:prstGeom prst="ellipse">
            <a:avLst/>
          </a:prstGeom>
          <a:solidFill>
            <a:srgbClr val="6E1423"/>
          </a:solidFill>
          <a:ln w="12700">
            <a:solidFill>
              <a:srgbClr val="6E1423"/>
            </a:solidFill>
            <a:prstDash val="solid"/>
          </a:ln>
        </p:spPr>
      </p:sp>
      <p:sp>
        <p:nvSpPr>
          <p:cNvPr id="13" name="Text 11"/>
          <p:cNvSpPr txBox="1"/>
          <p:nvPr/>
        </p:nvSpPr>
        <p:spPr>
          <a:xfrm>
            <a:off x="457200" y="31363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051560" y="3090672"/>
            <a:ext cx="2377440" cy="548640"/>
          </a:xfrm>
          <a:prstGeom prst="rect">
            <a:avLst/>
          </a:prstGeom>
          <a:noFill/>
          <a:ln/>
        </p:spPr>
        <p:txBody>
          <a:bodyPr wrap="square" lIns="0" tIns="0" rIns="0" bIns="0" rtlCol="0" anchor="ctr"/>
          <a:lstStyle/>
          <a:p>
            <a:pPr indent="0" marL="0">
              <a:buNone/>
            </a:pPr>
            <a:r>
              <a:rPr lang="en-US" sz="1300" b="1" dirty="0">
                <a:solidFill>
                  <a:srgbClr val="1F1F23"/>
                </a:solidFill>
              </a:rPr>
              <a:t>decidir</a:t>
            </a:r>
            <a:endParaRPr lang="en-US" sz="1300" dirty="0"/>
          </a:p>
          <a:p>
            <a:pPr indent="0" marL="0">
              <a:buNone/>
            </a:pPr>
            <a:r>
              <a:rPr lang="en-US" sz="1100" dirty="0">
                <a:solidFill>
                  <a:srgbClr val="5B5F66"/>
                </a:solidFill>
              </a:rPr>
              <a:t>conservar o revertir</a:t>
            </a:r>
            <a:endParaRPr lang="en-US" sz="1300" dirty="0"/>
          </a:p>
        </p:txBody>
      </p:sp>
      <p:sp>
        <p:nvSpPr>
          <p:cNvPr id="15" name="Shape 13"/>
          <p:cNvSpPr/>
          <p:nvPr/>
        </p:nvSpPr>
        <p:spPr>
          <a:xfrm>
            <a:off x="457200" y="3831336"/>
            <a:ext cx="457200" cy="457200"/>
          </a:xfrm>
          <a:prstGeom prst="ellipse">
            <a:avLst/>
          </a:prstGeom>
          <a:solidFill>
            <a:srgbClr val="2E7D4F"/>
          </a:solidFill>
          <a:ln w="12700">
            <a:solidFill>
              <a:srgbClr val="2E7D4F"/>
            </a:solidFill>
            <a:prstDash val="solid"/>
          </a:ln>
        </p:spPr>
      </p:sp>
      <p:sp>
        <p:nvSpPr>
          <p:cNvPr id="16" name="Text 14"/>
          <p:cNvSpPr txBox="1"/>
          <p:nvPr/>
        </p:nvSpPr>
        <p:spPr>
          <a:xfrm>
            <a:off x="457200" y="383133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051560" y="3785616"/>
            <a:ext cx="2377440" cy="548640"/>
          </a:xfrm>
          <a:prstGeom prst="rect">
            <a:avLst/>
          </a:prstGeom>
          <a:noFill/>
          <a:ln/>
        </p:spPr>
        <p:txBody>
          <a:bodyPr wrap="square" lIns="0" tIns="0" rIns="0" bIns="0" rtlCol="0" anchor="ctr"/>
          <a:lstStyle/>
          <a:p>
            <a:pPr indent="0" marL="0">
              <a:buNone/>
            </a:pPr>
            <a:r>
              <a:rPr lang="en-US" sz="1300" b="1" dirty="0">
                <a:solidFill>
                  <a:srgbClr val="1F1F23"/>
                </a:solidFill>
              </a:rPr>
              <a:t>apply</a:t>
            </a:r>
            <a:endParaRPr lang="en-US" sz="1300" dirty="0"/>
          </a:p>
          <a:p>
            <a:pPr indent="0" marL="0">
              <a:buNone/>
            </a:pPr>
            <a:r>
              <a:rPr lang="en-US" sz="1100" dirty="0">
                <a:solidFill>
                  <a:srgbClr val="5B5F66"/>
                </a:solidFill>
              </a:rPr>
              <a:t>reconcilia</a:t>
            </a:r>
            <a:endParaRPr lang="en-US" sz="1300" dirty="0"/>
          </a:p>
        </p:txBody>
      </p:sp>
      <p:pic>
        <p:nvPicPr>
          <p:cNvPr id="18" name="Image 0" descr="/tmp/claude-0/-home-claude/01c0e5a6-0dc4-54dc-9bf7-5ed18b053e74/scratchpad/img/fig-drift-deteccion.png">    </p:cNvPr>
          <p:cNvPicPr>
            <a:picLocks noChangeAspect="1"/>
          </p:cNvPicPr>
          <p:nvPr/>
        </p:nvPicPr>
        <p:blipFill>
          <a:blip r:embed="rId1"/>
          <a:stretch>
            <a:fillRect/>
          </a:stretch>
        </p:blipFill>
        <p:spPr>
          <a:xfrm>
            <a:off x="4213952" y="1005840"/>
            <a:ext cx="3916496" cy="3611880"/>
          </a:xfrm>
          <a:prstGeom prst="rect">
            <a:avLst/>
          </a:prstGeom>
        </p:spPr>
      </p:pic>
      <p:sp>
        <p:nvSpPr>
          <p:cNvPr id="19" name="Expositor"/>
          <p:cNvSpPr/>
          <p:nvPr/>
        </p:nvSpPr>
        <p:spPr>
          <a:xfrm>
            <a:off x="5989320" y="4736592"/>
            <a:ext cx="2240280" cy="292608"/>
          </a:xfrm>
          <a:prstGeom prst="roundRect">
            <a:avLst>
              <a:gd name="adj" fmla="val 50000"/>
            </a:avLst>
          </a:prstGeom>
          <a:solidFill>
            <a:srgbClr val="B5162B"/>
          </a:solidFill>
          <a:ln w="12700">
            <a:solidFill>
              <a:srgbClr val="B5162B"/>
            </a:solidFill>
            <a:prstDash val="solid"/>
          </a:ln>
        </p:spPr>
      </p:sp>
      <p:sp>
        <p:nvSpPr>
          <p:cNvPr id="20"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Karen Quispe</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algn="l" indent="0" marL="0">
              <a:buNone/>
            </a:pPr>
            <a:r>
              <a:rPr lang="en-US" sz="2800" b="1" dirty="0">
                <a:solidFill>
                  <a:schemeClr val="tx2"/>
                </a:solidFill>
              </a:rPr>
              <a:t>Resultados y conclusiones</a:t>
            </a:r>
            <a:endParaRPr lang="en-US" sz="2800" dirty="0"/>
          </a:p>
        </p:txBody>
      </p:sp>
      <p:sp>
        <p:nvSpPr>
          <p:cNvPr id="3" name="Shape 1"/>
          <p:cNvSpPr/>
          <p:nvPr/>
        </p:nvSpPr>
        <p:spPr>
          <a:xfrm>
            <a:off x="457200" y="1051560"/>
            <a:ext cx="1920240" cy="868680"/>
          </a:xfrm>
          <a:prstGeom prst="roundRect">
            <a:avLst>
              <a:gd name="adj" fmla="val 8421"/>
            </a:avLst>
          </a:prstGeom>
          <a:solidFill>
            <a:srgbClr val="F4EFEF"/>
          </a:solidFill>
          <a:ln w="12700">
            <a:solidFill>
              <a:srgbClr val="F4EFEF"/>
            </a:solidFill>
            <a:prstDash val="solid"/>
          </a:ln>
        </p:spPr>
      </p:sp>
      <p:sp>
        <p:nvSpPr>
          <p:cNvPr id="4" name="Text 2"/>
          <p:cNvSpPr txBox="1"/>
          <p:nvPr/>
        </p:nvSpPr>
        <p:spPr>
          <a:xfrm>
            <a:off x="457200" y="1097280"/>
            <a:ext cx="1920240" cy="502920"/>
          </a:xfrm>
          <a:prstGeom prst="rect">
            <a:avLst/>
          </a:prstGeom>
          <a:noFill/>
          <a:ln/>
        </p:spPr>
        <p:txBody>
          <a:bodyPr wrap="square" lIns="0" tIns="0" rIns="0" bIns="0" rtlCol="0" anchor="ctr"/>
          <a:lstStyle/>
          <a:p>
            <a:pPr algn="ctr" indent="0" marL="0">
              <a:buNone/>
            </a:pPr>
            <a:r>
              <a:rPr lang="en-US" sz="2800" b="1" dirty="0">
                <a:solidFill>
                  <a:srgbClr val="2E7D4F"/>
                </a:solidFill>
              </a:rPr>
              <a:t>16/16</a:t>
            </a:r>
            <a:endParaRPr lang="en-US" sz="2800" dirty="0"/>
          </a:p>
        </p:txBody>
      </p:sp>
      <p:sp>
        <p:nvSpPr>
          <p:cNvPr id="5" name="Text 3"/>
          <p:cNvSpPr txBox="1"/>
          <p:nvPr/>
        </p:nvSpPr>
        <p:spPr>
          <a:xfrm>
            <a:off x="457200" y="1581912"/>
            <a:ext cx="1920240" cy="292608"/>
          </a:xfrm>
          <a:prstGeom prst="rect">
            <a:avLst/>
          </a:prstGeom>
          <a:noFill/>
          <a:ln/>
        </p:spPr>
        <p:txBody>
          <a:bodyPr wrap="square" lIns="0" tIns="0" rIns="0" bIns="0" rtlCol="0" anchor="t"/>
          <a:lstStyle/>
          <a:p>
            <a:pPr algn="ctr" indent="0" marL="0">
              <a:buNone/>
            </a:pPr>
            <a:r>
              <a:rPr lang="en-US" sz="1100" dirty="0">
                <a:solidFill>
                  <a:srgbClr val="5B5F66"/>
                </a:solidFill>
              </a:rPr>
              <a:t>casos de prueba aprobados</a:t>
            </a:r>
            <a:endParaRPr lang="en-US" sz="1100" dirty="0"/>
          </a:p>
        </p:txBody>
      </p:sp>
      <p:sp>
        <p:nvSpPr>
          <p:cNvPr id="6" name="Shape 4"/>
          <p:cNvSpPr/>
          <p:nvPr/>
        </p:nvSpPr>
        <p:spPr>
          <a:xfrm>
            <a:off x="2560320" y="1051560"/>
            <a:ext cx="1920240" cy="868680"/>
          </a:xfrm>
          <a:prstGeom prst="roundRect">
            <a:avLst>
              <a:gd name="adj" fmla="val 8421"/>
            </a:avLst>
          </a:prstGeom>
          <a:solidFill>
            <a:srgbClr val="F4EFEF"/>
          </a:solidFill>
          <a:ln w="12700">
            <a:solidFill>
              <a:srgbClr val="F4EFEF"/>
            </a:solidFill>
            <a:prstDash val="solid"/>
          </a:ln>
        </p:spPr>
      </p:sp>
      <p:sp>
        <p:nvSpPr>
          <p:cNvPr id="7" name="Text 5"/>
          <p:cNvSpPr txBox="1"/>
          <p:nvPr/>
        </p:nvSpPr>
        <p:spPr>
          <a:xfrm>
            <a:off x="2560320" y="1097280"/>
            <a:ext cx="1920240" cy="502920"/>
          </a:xfrm>
          <a:prstGeom prst="rect">
            <a:avLst/>
          </a:prstGeom>
          <a:noFill/>
          <a:ln/>
        </p:spPr>
        <p:txBody>
          <a:bodyPr wrap="square" lIns="0" tIns="0" rIns="0" bIns="0" rtlCol="0" anchor="ctr"/>
          <a:lstStyle/>
          <a:p>
            <a:pPr algn="ctr" indent="0" marL="0">
              <a:buNone/>
            </a:pPr>
            <a:r>
              <a:rPr lang="en-US" sz="2800" b="1" dirty="0">
                <a:solidFill>
                  <a:srgbClr val="2E7D4F"/>
                </a:solidFill>
              </a:rPr>
              <a:t>27/27</a:t>
            </a:r>
            <a:endParaRPr lang="en-US" sz="2800" dirty="0"/>
          </a:p>
        </p:txBody>
      </p:sp>
      <p:sp>
        <p:nvSpPr>
          <p:cNvPr id="8" name="Text 6"/>
          <p:cNvSpPr txBox="1"/>
          <p:nvPr/>
        </p:nvSpPr>
        <p:spPr>
          <a:xfrm>
            <a:off x="2560320" y="1581912"/>
            <a:ext cx="1920240" cy="292608"/>
          </a:xfrm>
          <a:prstGeom prst="rect">
            <a:avLst/>
          </a:prstGeom>
          <a:noFill/>
          <a:ln/>
        </p:spPr>
        <p:txBody>
          <a:bodyPr wrap="square" lIns="0" tIns="0" rIns="0" bIns="0" rtlCol="0" anchor="t"/>
          <a:lstStyle/>
          <a:p>
            <a:pPr algn="ctr" indent="0" marL="0">
              <a:buNone/>
            </a:pPr>
            <a:r>
              <a:rPr lang="en-US" sz="1100" dirty="0">
                <a:solidFill>
                  <a:srgbClr val="5B5F66"/>
                </a:solidFill>
              </a:rPr>
              <a:t>pruebas terraform test</a:t>
            </a:r>
            <a:endParaRPr lang="en-US" sz="1100" dirty="0"/>
          </a:p>
        </p:txBody>
      </p:sp>
      <p:sp>
        <p:nvSpPr>
          <p:cNvPr id="9" name="Shape 7"/>
          <p:cNvSpPr/>
          <p:nvPr/>
        </p:nvSpPr>
        <p:spPr>
          <a:xfrm>
            <a:off x="4663440" y="1051560"/>
            <a:ext cx="1920240" cy="868680"/>
          </a:xfrm>
          <a:prstGeom prst="roundRect">
            <a:avLst>
              <a:gd name="adj" fmla="val 8421"/>
            </a:avLst>
          </a:prstGeom>
          <a:solidFill>
            <a:srgbClr val="F4EFEF"/>
          </a:solidFill>
          <a:ln w="12700">
            <a:solidFill>
              <a:srgbClr val="F4EFEF"/>
            </a:solidFill>
            <a:prstDash val="solid"/>
          </a:ln>
        </p:spPr>
      </p:sp>
      <p:sp>
        <p:nvSpPr>
          <p:cNvPr id="10" name="Text 8"/>
          <p:cNvSpPr txBox="1"/>
          <p:nvPr/>
        </p:nvSpPr>
        <p:spPr>
          <a:xfrm>
            <a:off x="4663440" y="1097280"/>
            <a:ext cx="1920240" cy="502920"/>
          </a:xfrm>
          <a:prstGeom prst="rect">
            <a:avLst/>
          </a:prstGeom>
          <a:noFill/>
          <a:ln/>
        </p:spPr>
        <p:txBody>
          <a:bodyPr wrap="square" lIns="0" tIns="0" rIns="0" bIns="0" rtlCol="0" anchor="ctr"/>
          <a:lstStyle/>
          <a:p>
            <a:pPr algn="ctr" indent="0" marL="0">
              <a:buNone/>
            </a:pPr>
            <a:r>
              <a:rPr lang="en-US" sz="2800" b="1" dirty="0">
                <a:solidFill>
                  <a:srgbClr val="6E1423"/>
                </a:solidFill>
              </a:rPr>
              <a:t>50</a:t>
            </a:r>
            <a:endParaRPr lang="en-US" sz="2800" dirty="0"/>
          </a:p>
        </p:txBody>
      </p:sp>
      <p:sp>
        <p:nvSpPr>
          <p:cNvPr id="11" name="Text 9"/>
          <p:cNvSpPr txBox="1"/>
          <p:nvPr/>
        </p:nvSpPr>
        <p:spPr>
          <a:xfrm>
            <a:off x="4663440" y="1581912"/>
            <a:ext cx="1920240" cy="292608"/>
          </a:xfrm>
          <a:prstGeom prst="rect">
            <a:avLst/>
          </a:prstGeom>
          <a:noFill/>
          <a:ln/>
        </p:spPr>
        <p:txBody>
          <a:bodyPr wrap="square" lIns="0" tIns="0" rIns="0" bIns="0" rtlCol="0" anchor="t"/>
          <a:lstStyle/>
          <a:p>
            <a:pPr algn="ctr" indent="0" marL="0">
              <a:buNone/>
            </a:pPr>
            <a:r>
              <a:rPr lang="en-US" sz="1100" dirty="0">
                <a:solidFill>
                  <a:srgbClr val="5B5F66"/>
                </a:solidFill>
              </a:rPr>
              <a:t>sucursales validadas</a:t>
            </a:r>
            <a:endParaRPr lang="en-US" sz="1100" dirty="0"/>
          </a:p>
        </p:txBody>
      </p:sp>
      <p:sp>
        <p:nvSpPr>
          <p:cNvPr id="12" name="Shape 10"/>
          <p:cNvSpPr/>
          <p:nvPr/>
        </p:nvSpPr>
        <p:spPr>
          <a:xfrm>
            <a:off x="6766560" y="1051560"/>
            <a:ext cx="1920240" cy="868680"/>
          </a:xfrm>
          <a:prstGeom prst="roundRect">
            <a:avLst>
              <a:gd name="adj" fmla="val 8421"/>
            </a:avLst>
          </a:prstGeom>
          <a:solidFill>
            <a:srgbClr val="F4EFEF"/>
          </a:solidFill>
          <a:ln w="12700">
            <a:solidFill>
              <a:srgbClr val="F4EFEF"/>
            </a:solidFill>
            <a:prstDash val="solid"/>
          </a:ln>
        </p:spPr>
      </p:sp>
      <p:sp>
        <p:nvSpPr>
          <p:cNvPr id="13" name="Text 11"/>
          <p:cNvSpPr txBox="1"/>
          <p:nvPr/>
        </p:nvSpPr>
        <p:spPr>
          <a:xfrm>
            <a:off x="6766560" y="1097280"/>
            <a:ext cx="1920240" cy="502920"/>
          </a:xfrm>
          <a:prstGeom prst="rect">
            <a:avLst/>
          </a:prstGeom>
          <a:noFill/>
          <a:ln/>
        </p:spPr>
        <p:txBody>
          <a:bodyPr wrap="square" lIns="0" tIns="0" rIns="0" bIns="0" rtlCol="0" anchor="ctr"/>
          <a:lstStyle/>
          <a:p>
            <a:pPr algn="ctr" indent="0" marL="0">
              <a:buNone/>
            </a:pPr>
            <a:r>
              <a:rPr lang="en-US" sz="2800" b="1" dirty="0">
                <a:solidFill>
                  <a:srgbClr val="6E1423"/>
                </a:solidFill>
              </a:rPr>
              <a:t>0</a:t>
            </a:r>
            <a:endParaRPr lang="en-US" sz="2800" dirty="0"/>
          </a:p>
        </p:txBody>
      </p:sp>
      <p:sp>
        <p:nvSpPr>
          <p:cNvPr id="14" name="Text 12"/>
          <p:cNvSpPr txBox="1"/>
          <p:nvPr/>
        </p:nvSpPr>
        <p:spPr>
          <a:xfrm>
            <a:off x="6766560" y="1581912"/>
            <a:ext cx="1920240" cy="292608"/>
          </a:xfrm>
          <a:prstGeom prst="rect">
            <a:avLst/>
          </a:prstGeom>
          <a:noFill/>
          <a:ln/>
        </p:spPr>
        <p:txBody>
          <a:bodyPr wrap="square" lIns="0" tIns="0" rIns="0" bIns="0" rtlCol="0" anchor="t"/>
          <a:lstStyle/>
          <a:p>
            <a:pPr algn="ctr" indent="0" marL="0">
              <a:buNone/>
            </a:pPr>
            <a:r>
              <a:rPr lang="en-US" sz="1100" dirty="0">
                <a:solidFill>
                  <a:srgbClr val="5B5F66"/>
                </a:solidFill>
              </a:rPr>
              <a:t>secretos en el repo</a:t>
            </a:r>
            <a:endParaRPr lang="en-US" sz="1100" dirty="0"/>
          </a:p>
        </p:txBody>
      </p:sp>
      <p:sp>
        <p:nvSpPr>
          <p:cNvPr id="15" name="Text 13"/>
          <p:cNvSpPr txBox="1"/>
          <p:nvPr/>
        </p:nvSpPr>
        <p:spPr>
          <a:xfrm>
            <a:off x="457200" y="2194560"/>
            <a:ext cx="8229600" cy="237744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6E1423"/>
                </a:solidFill>
              </a:rPr>
              <a:t>Escalable:</a:t>
            </a:r>
            <a:pPr indent="0" marL="0">
              <a:spcAft>
                <a:spcPts val="800"/>
              </a:spcAft>
              <a:buNone/>
            </a:pPr>
            <a:r>
              <a:rPr lang="en-US" sz="1400" dirty="0">
                <a:solidFill>
                  <a:srgbClr val="1F1F23"/>
                </a:solidFill>
              </a:rPr>
              <a:t> agregar una sucursal es un cambio de datos, sin tocar archivos .tf.</a:t>
            </a:r>
            <a:endParaRPr lang="en-US" sz="1400" dirty="0"/>
          </a:p>
          <a:p>
            <a:pPr marL="342900" indent="-342900">
              <a:spcAft>
                <a:spcPts val="800"/>
              </a:spcAft>
              <a:buSzPct val="100000"/>
              <a:buChar char="•"/>
            </a:pPr>
            <a:r>
              <a:rPr lang="en-US" sz="1400" b="1" dirty="0">
                <a:solidFill>
                  <a:srgbClr val="6E1423"/>
                </a:solidFill>
              </a:rPr>
              <a:t>Probado sin nube:</a:t>
            </a:r>
            <a:pPr indent="0" marL="0">
              <a:spcAft>
                <a:spcPts val="800"/>
              </a:spcAft>
              <a:buNone/>
            </a:pPr>
            <a:r>
              <a:rPr lang="en-US" sz="1400" dirty="0">
                <a:solidFill>
                  <a:srgbClr val="1F1F23"/>
                </a:solidFill>
              </a:rPr>
              <a:t> mock_provider encontró un error real antes de desplegar.</a:t>
            </a:r>
            <a:endParaRPr lang="en-US" sz="1400" dirty="0"/>
          </a:p>
          <a:p>
            <a:pPr marL="342900" indent="-342900">
              <a:spcAft>
                <a:spcPts val="800"/>
              </a:spcAft>
              <a:buSzPct val="100000"/>
              <a:buChar char="•"/>
            </a:pPr>
            <a:r>
              <a:rPr lang="en-US" sz="1400" b="1" dirty="0">
                <a:solidFill>
                  <a:srgbClr val="6E1423"/>
                </a:solidFill>
              </a:rPr>
              <a:t>Honesto:</a:t>
            </a:r>
            <a:pPr indent="0" marL="0">
              <a:spcAft>
                <a:spcPts val="800"/>
              </a:spcAft>
              <a:buNone/>
            </a:pPr>
            <a:r>
              <a:rPr lang="en-US" sz="1400" dirty="0">
                <a:solidFill>
                  <a:srgbClr val="1F1F23"/>
                </a:solidFill>
              </a:rPr>
              <a:t> se distingue lo ejecutado de lo que queda como diseño empresarial.</a:t>
            </a:r>
            <a:endParaRPr lang="en-US" sz="1400" dirty="0"/>
          </a:p>
          <a:p>
            <a:pPr marL="342900" indent="-342900">
              <a:spcAft>
                <a:spcPts val="800"/>
              </a:spcAft>
              <a:buSzPct val="100000"/>
              <a:buChar char="•"/>
            </a:pPr>
            <a:r>
              <a:rPr lang="en-US" sz="1400" b="1" dirty="0">
                <a:solidFill>
                  <a:srgbClr val="6E1423"/>
                </a:solidFill>
              </a:rPr>
              <a:t>Límite:</a:t>
            </a:r>
            <a:pPr indent="0" marL="0">
              <a:spcAft>
                <a:spcPts val="800"/>
              </a:spcAft>
              <a:buNone/>
            </a:pPr>
            <a:r>
              <a:rPr lang="en-US" sz="1400" dirty="0">
                <a:solidFill>
                  <a:srgbClr val="1F1F23"/>
                </a:solidFill>
              </a:rPr>
              <a:t> no se probó contra las APIs reales de AWS y GCP por falta de credenciales.</a:t>
            </a:r>
            <a:endParaRPr lang="en-US" sz="1400" dirty="0"/>
          </a:p>
        </p:txBody>
      </p:sp>
      <p:sp>
        <p:nvSpPr>
          <p:cNvPr id="16" name="Expositor"/>
          <p:cNvSpPr/>
          <p:nvPr/>
        </p:nvSpPr>
        <p:spPr>
          <a:xfrm>
            <a:off x="5989320" y="4736592"/>
            <a:ext cx="2240280" cy="292608"/>
          </a:xfrm>
          <a:prstGeom prst="roundRect">
            <a:avLst>
              <a:gd name="adj" fmla="val 50000"/>
            </a:avLst>
          </a:prstGeom>
          <a:solidFill>
            <a:srgbClr val="B5162B"/>
          </a:solidFill>
          <a:ln w="12700">
            <a:solidFill>
              <a:srgbClr val="B5162B"/>
            </a:solidFill>
            <a:prstDash val="solid"/>
          </a:ln>
        </p:spPr>
      </p:sp>
      <p:sp>
        <p:nvSpPr>
          <p:cNvPr id="17" name="Expositor texto"/>
          <p:cNvSpPr txBox="1"/>
          <p:nvPr/>
        </p:nvSpPr>
        <p:spPr>
          <a:xfrm>
            <a:off x="5989320" y="4736592"/>
            <a:ext cx="2240280" cy="292608"/>
          </a:xfrm>
          <a:prstGeom prst="rect">
            <a:avLst/>
          </a:prstGeom>
          <a:noFill/>
          <a:ln/>
        </p:spPr>
        <p:txBody>
          <a:bodyPr wrap="square" lIns="0" tIns="0" rIns="0" bIns="0" rtlCol="0" anchor="ctr"/>
          <a:lstStyle/>
          <a:p>
            <a:pPr algn="ctr" indent="0" marL="0">
              <a:buNone/>
            </a:pPr>
            <a:r>
              <a:rPr lang="en-US" sz="1000" b="1" dirty="0">
                <a:solidFill>
                  <a:schemeClr val="bg1"/>
                </a:solidFill>
              </a:rPr>
              <a:t>Expone: Karen Quispe</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5F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463040"/>
          </a:xfrm>
          <a:prstGeom prst="rect">
            <a:avLst/>
          </a:prstGeom>
          <a:noFill/>
          <a:ln/>
        </p:spPr>
        <p:txBody>
          <a:bodyPr wrap="square" lIns="0" tIns="0" rIns="0" bIns="0" rtlCol="0" anchor="t"/>
          <a:lstStyle/>
          <a:p>
            <a:pPr algn="l" indent="0" marL="0">
              <a:buNone/>
            </a:pPr>
            <a:r>
              <a:rPr lang="en-US" sz="3200" b="1" dirty="0">
                <a:solidFill>
                  <a:schemeClr val="bg1"/>
                </a:solidFill>
              </a:rPr>
              <a:t>Gracias</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algn="l" indent="0" marL="0">
              <a:buNone/>
            </a:pPr>
            <a:r>
              <a:rPr lang="en-US" sz="1600" dirty="0">
                <a:solidFill>
                  <a:schemeClr val="bg2"/>
                </a:solidFill>
              </a:rPr>
              <a:t>¿Preguntas?</a:t>
            </a:r>
            <a:endParaRPr lang="en-US" sz="1600" dirty="0"/>
          </a:p>
        </p:txBody>
      </p:sp>
      <p:sp>
        <p:nvSpPr>
          <p:cNvPr id="4" name="Text 2"/>
          <p:cNvSpPr txBox="1"/>
          <p:nvPr/>
        </p:nvSpPr>
        <p:spPr>
          <a:xfrm>
            <a:off x="548640" y="4069080"/>
            <a:ext cx="8046720" cy="365760"/>
          </a:xfrm>
          <a:prstGeom prst="rect">
            <a:avLst/>
          </a:prstGeom>
          <a:noFill/>
          <a:ln/>
        </p:spPr>
        <p:txBody>
          <a:bodyPr wrap="square" lIns="0" tIns="0" rIns="0" bIns="0" rtlCol="0" anchor="ctr"/>
          <a:lstStyle/>
          <a:p>
            <a:pPr indent="0" marL="0">
              <a:buNone/>
            </a:pPr>
            <a:r>
              <a:rPr lang="en-US" sz="1400" dirty="0">
                <a:solidFill>
                  <a:srgbClr val="FFFFFF"/>
                </a:solidFill>
              </a:rPr>
              <a:t>Repositorio: github.com/ThiagoIcochea/ServiciosCloudIAC</a:t>
            </a:r>
            <a:endParaRPr lang="en-US" sz="1400" dirty="0"/>
          </a:p>
        </p:txBody>
      </p:sp>
    </p:spTree>
  </p:cSld>
  <p:clrMapOvr>
    <a:masterClrMapping/>
  </p:clrMapOvr>
</p:sld>
</file>

<file path=ppt/theme/theme1.xml><?xml version="1.0" encoding="utf-8"?>
<a:theme xmlns:a="http://schemas.openxmlformats.org/drawingml/2006/main" name="UTP IaC">
  <a:themeElements>
    <a:clrScheme name="UTP IaC">
      <a:dk1>
        <a:srgbClr val="1F1F23"/>
      </a:dk1>
      <a:lt1>
        <a:srgbClr val="FFFFFF"/>
      </a:lt1>
      <a:dk2>
        <a:srgbClr val="6E1423"/>
      </a:dk2>
      <a:lt2>
        <a:srgbClr val="F4EFEF"/>
      </a:lt2>
      <a:accent1>
        <a:srgbClr val="B5162B"/>
      </a:accent1>
      <a:accent2>
        <a:srgbClr val="E07B00"/>
      </a:accent2>
      <a:accent3>
        <a:srgbClr val="1A73E8"/>
      </a:accent3>
      <a:accent4>
        <a:srgbClr val="2E7D4F"/>
      </a:accent4>
      <a:accent5>
        <a:srgbClr val="5B5F66"/>
      </a:accent5>
      <a:accent6>
        <a:srgbClr val="D9A441"/>
      </a:accent6>
      <a:hlink>
        <a:srgbClr val="B5162B"/>
      </a:hlink>
      <a:folHlink>
        <a:srgbClr val="6E1423"/>
      </a:folHlink>
    </a:clrScheme>
    <a:fontScheme name="UTP IaC">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IaC multi-cloud para 50 sucursales</dc:title>
  <dc:subject>PptxGenJS Presentation</dc:subject>
  <dc:creator>Grupo Servicios Cloud - UTP</dc:creator>
  <cp:lastModifiedBy>Grupo Servicios Cloud - UTP</cp:lastModifiedBy>
  <cp:revision>1</cp:revision>
  <dcterms:created xsi:type="dcterms:W3CDTF">2026-10-16T21:44:26Z</dcterms:created>
  <dcterms:modified xsi:type="dcterms:W3CDTF">2026-10-16T21:44:26Z</dcterms:modified>
</cp:coreProperties>
</file>