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ddf67193-ea7b-581a-2e53-1ff1e7782a96}">
          <p14:sldIdLst>
            <p14:sldId id="256"/>
            <p14:sldId id="257"/>
          </p14:sldIdLst>
        </p14:section>
        <p14:section name="01 Arquitectura" id="{c293b730-867f-ce09-7625-58a29de7e2f5}">
          <p14:sldIdLst>
            <p14:sldId id="258"/>
            <p14:sldId id="259"/>
            <p14:sldId id="260"/>
          </p14:sldIdLst>
        </p14:section>
        <p14:section name="02 AWS" id="{1cfe328f-78cc-5a15-af21-704868268d69}">
          <p14:sldIdLst>
            <p14:sldId id="261"/>
            <p14:sldId id="262"/>
            <p14:sldId id="263"/>
          </p14:sldIdLst>
        </p14:section>
        <p14:section name="03 GCP" id="{17502361-b39c-0621-a8a8-a75444b36e3f}">
          <p14:sldIdLst>
            <p14:sldId id="264"/>
            <p14:sldId id="265"/>
            <p14:sldId id="266"/>
          </p14:sldIdLst>
        </p14:section>
        <p14:section name="04 CI/CD" id="{37e61bba-5e60-0e87-7d91-55450e19066b}">
          <p14:sldIdLst>
            <p14:sldId id="267"/>
            <p14:sldId id="268"/>
            <p14:sldId id="269"/>
          </p14:sldIdLst>
        </p14:section>
        <p14:section name="05 State y Drift" id="{01c5b005-1483-0d2d-541f-dad174e31e27}">
          <p14:sldIdLst>
            <p14:sldId id="270"/>
            <p14:sldId id="271"/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THIAGO (≈20 s): Buenos días. Somos el grupo de Servicios Cloud y vamos a presentar nuestro proyecto de Infraestructura como Código con Terraform para administrar 50 sucursales en AWS y Google Cloud. Los cuadros de la derecha son las 50 sucursales: naranjas en AWS y azules en GCP. Cada integrante expondrá la parte que desarrolló.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THIAGO (≈30 s): El trabajo se dividió en cinco frentes, uno por integrante; cada uno diseñó, programó, probó y documentó su parte. Yo coordiné y diseñé la arquitectura; Carlos hizo AWS; Eddyson, GCP; Huber, el pipeline y la seguridad; y Karen, el estado, el drift y el plan de pruebas. El detalle está en la sección 17 del informe y en el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THIAGO: (transición, 5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THIAGO (≈1 min): Configurar 50 sucursales a mano genera errores, como los cuadros rojos, no deja auditar y no permite detectar cambios manuales. Nuestra solución tiene un solo archivo de datos, ocho módulos reutilizables y un orquestador; con eso salen 50 sucursales idénticas. La restricción fue no tener credenciales de AWS ni GCP, así que nunca se despliega de verdad: validamos todo con proveedores simulados y laboratorios locales.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THIAGO (≈1 min 30 s): A la izquierda está branches.yaml, el archivo de datos: dice qué sucursales hay, en qué proveedor y en qué entorno. Lo genera un script de Python. En el centro está branch-stack, el orquestador: lee el YAML, filtra por entorno y proveedor, y con for_each aplica los cuatro módulos de AWS o los cuatro de GCP a cada sucursal. Hay tres entornos con su propio state: 40 sucursales en producción, 6 en staging y 4 en desarrollo. Agregar la sucursal 51 es solo añadir una entrada al YAML; lo probamos en CP15 y ningún archivo .tf cambió. Ahora Carlos con AWS.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CARLOS: (transición, 5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CARLOS (≈1 min 30 s): Me encargué de los cuatro módulos de AWS. Cada sucursal tiene su propia VPC, con una subnet, un Internet Gateway y una tabla de rutas que manda el tráfico a Internet. El Security Group es el guardia: deja pasar HTTP y HTTPS y SSH solo desde la red interna. Hay dos servidores EC2, web y app, y CloudWatch con una alarma de CPU por servidor. Elegimos una VPC por sucursal para aislarlas de verdad. En total: 25 VPC, 50 instancias, 75 reglas y 50 alarmas.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CARLOS (≈1 min 20 s): Como no había credenciales, probé con terraform test y mock_provider, que simula AWS sin llamadas reales. En la primera corrida falló: yo accedía a route[0] en la tabla de rutas, pero route es un conjunto y no tiene índice. Lo corregí con anytrue, que busca dentro del conjunto la ruta 0.0.0.0/0. A la derecha está la salida real: todas las suites de AWS pasan. Lo importante es que el error se encontró antes de desplegar. Ahora Eddyson con GCP.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EDDYSON: (transición, 5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EDDYSON (≈1 min 30 s): Yo desarrollé los cuatro módulos de Google Cloud. La red es una VPC en modo personalizado, para que GCP no cree subnets en todas las regiones; tiene una subnet regional y sale a Internet con Cloud Router y Cloud NAT. Como GCP no tiene Security Groups, cada regla es un firewall independiente. Hay dos máquinas virtuales, web y app, y una alerta de Cloud Monitoring cuando la CPU pasa del 80%. Son 25 redes, 50 VM, 75 reglas y 25 alertas, una por sucursal.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EDDYSON (≈1 min 20 s): Los módulos de AWS y GCP reciben los mismos campos lógicos del YAML, pero no forzamos una abstracción falsa: respetamos las diferencias. En GCP no hay contenedor de reglas, la salida es con NAT y la región va en cada recurso. Probé todo con mock_provider google; a la derecha está la salida real, incluidas las pruebas que rechazan datos inválidos. Además, TFLint encontró cuatro advertencias en mis módulos en el primer run del pipeline y las corregí. Le paso la palabra a Huber.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HUBER: (transición, 5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HUBER (≈1 min 30 s): Implementé el pipeline en GitHub Actions. Es uno solo para AWS y GCP porque conviven en el mismo branch-stack. En cada cambio corre: formato, validate en los tres entornos, el esquema de las 50 sucursales, las 27 pruebas, TFLint, y en seguridad Checkov y gitleaks. Para aprobar un cambio se trabaja en una rama, se abre un Pull Request, las validaciones deben pasar y un revisor confirma el checklist. Nunca hay apply real porque no hay credenciales; dejamos documentado cómo habilitarlo con OIDC y aprobación manual.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HUBER (≈1 min 20 s): En seguridad, el .gitignore excluye estados y claves, gitleaks revisa todo el historial y una verificación adicional hace fallar el pipeline si alguien sube un state o una clave. El diseño de IAM es de mínimo privilegio. También hice el laboratorio Docker con dos sucursales y cuatro contenedores. Como el equipo local no tenía Docker, lo corrí en GitHub Actions; abajo está la salida real: los cuatro contenedores sanos, HTTP 200, conectividad dentro de cada sucursal y ninguna conexión entre sucursales. Ahora Karen.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KAREN: (transición, 5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KAREN (≈1 min): El state es el inventario de lo que Terraform creó. Para una empresa diseñamos backends remotos: S3 con versionado, cifrado y bloqueo en AWS, y GCS con versionado y bloqueo nativo en GCP, con permisos mínimos por entorno. Lo que ejecutamos fue un laboratorio local con todo el ciclo: init, apply, consultar con state list y show, modificar, planificar y destruir (CP12). Y algo clave: el state guarda datos sensibles, por eso nunca se sube a Git.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KAREN (≈50 s): Para el drift usamos un archivo local gestionado por Terraform. Lo creamos y luego lo cambiamos a mano, max_connections de 100 a 9999, como si alguien tocara producción por consola. terraform plan detectó la diferencia; decidimos revertir y un apply devolvió el valor a 100. A la derecha está la salida real del laboratorio. Ojo: refresh-only solo actualiza el inventario, no corrige nada. El mismo flujo corre en GitHub Actions (CP13 y CP14).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KAREN (≈1 min): Elaboré el plan de pruebas y reuní las evidencias. Los 16 casos se ejecutaron y aprobaron, las 27 pruebas pasaron, se validaron las 50 sucursales y no hay secretos en el repositorio. A la derecha, la salida real de validate en los tres entornos. Concluimos que la solución escala, que probar sin nube sí aporta porque encontró errores reales, y que siempre separamos lo ejecutado de lo diseñado. La limitación es que no se probó contra las APIs reales. Gracias.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el grupo responde preguntas. Cada integrante responde sobre su propio frente.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600200"/>
            <a:ext cx="49377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063240"/>
            <a:ext cx="493776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DOR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31720"/>
            <a:ext cx="47548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063240"/>
            <a:ext cx="475488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38912"/>
            <a:ext cx="8229600" cy="53035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Servicios Cloud · UTP · IaC 50 sucursales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49E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49E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7830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tmp/claude-0/-home-claude/01c0e5a6-0dc4-54dc-9bf7-5ed18b053e74/scratchpad/img/logo-ut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466344"/>
            <a:ext cx="1600200" cy="457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234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 test</a:t>
            </a:r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sin credenciales cloud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16002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Infraestructura como Código multi-cloud para 50 sucursales</a:t>
            </a:r>
            <a:endParaRPr lang="en-US" sz="30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0632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Terraform · AWS · Google Cloud · GitHub Actions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069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</a:rPr>
              <a:t>Curso Servicios Cloud · Docente: Eleodoro Orbegoso Carrera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</a:rPr>
              <a:t>Icochea · Gonzales · Huamani · Remuzgo · Quispe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5029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branches.yaml → 50 sucursales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760720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048756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36792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624828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912864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200900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488936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776972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65008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353044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760720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48756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36792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24828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912864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200900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488936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776972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065008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353044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760720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048756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336792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624828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912864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200900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488936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776972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065008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353044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760720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048756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336792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624828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6912864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200900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88936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776972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065008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8353044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760720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048756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336792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6624828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912864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200900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7488936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7776972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8065008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8353044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5760720" y="225856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9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</a:t>
            </a:r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AWS   </a:t>
            </a:r>
            <a:pPr indent="0" marL="0">
              <a:buNone/>
            </a:pPr>
            <a:r>
              <a:rPr lang="en-US" sz="1100" dirty="0">
                <a:solidFill>
                  <a:srgbClr val="428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</a:t>
            </a:r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GCP</a:t>
            </a:r>
            <a:endParaRPr lang="en-US" sz="1100" dirty="0"/>
          </a:p>
        </p:txBody>
      </p:sp>
      <p:sp>
        <p:nvSpPr>
          <p:cNvPr id="60" name="Shape 57"/>
          <p:cNvSpPr/>
          <p:nvPr/>
        </p:nvSpPr>
        <p:spPr>
          <a:xfrm>
            <a:off x="5760720" y="2651760"/>
            <a:ext cx="2862072" cy="1417320"/>
          </a:xfrm>
          <a:prstGeom prst="roundRect">
            <a:avLst>
              <a:gd name="adj" fmla="val 3871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760720" y="2871216"/>
            <a:ext cx="2862072" cy="9144"/>
          </a:xfrm>
          <a:prstGeom prst="rect">
            <a:avLst/>
          </a:prstGeom>
          <a:solidFill>
            <a:srgbClr val="21262D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870448" y="2724912"/>
            <a:ext cx="82296" cy="822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6007608" y="2724912"/>
            <a:ext cx="82296" cy="822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144768" y="2724912"/>
            <a:ext cx="82296" cy="822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6309360" y="2679192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 test</a:t>
            </a:r>
            <a:endParaRPr lang="en-US" sz="900" dirty="0"/>
          </a:p>
        </p:txBody>
      </p:sp>
      <p:sp>
        <p:nvSpPr>
          <p:cNvPr id="66" name="Text 63"/>
          <p:cNvSpPr txBox="1"/>
          <p:nvPr/>
        </p:nvSpPr>
        <p:spPr>
          <a:xfrm>
            <a:off x="5897880" y="2962656"/>
            <a:ext cx="25877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aws_network.tftest.hcl...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branch_stack.tftest.hcl...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gcp_security.tftest.hcl...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Success! 27 passed, 0 failed.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01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00 </a:t>
            </a:r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EQUIPO</a:t>
            </a:r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repartición de tareas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3891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Cinco frentes, un responsable por frente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517904" cy="3429000"/>
          </a:xfrm>
          <a:prstGeom prst="roundRect">
            <a:avLst>
              <a:gd name="adj" fmla="val 481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9844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D01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8745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Thiago Icochea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3774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0102B"/>
                </a:solidFill>
              </a:rPr>
              <a:t>Arquitectura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8346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7606A"/>
                </a:solidFill>
              </a:rPr>
              <a:t>branch-stack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7606A"/>
                </a:solidFill>
              </a:rPr>
              <a:t>branches.yaml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7606A"/>
                </a:solidFill>
              </a:rPr>
              <a:t>entornos y repo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4224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min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130552" y="1188720"/>
            <a:ext cx="1517904" cy="3429000"/>
          </a:xfrm>
          <a:prstGeom prst="roundRect">
            <a:avLst>
              <a:gd name="adj" fmla="val 481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67712" y="129844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2267712" y="18745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Carlos Gonzales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267712" y="23774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9900"/>
                </a:solidFill>
              </a:rPr>
              <a:t>AWS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267712" y="28346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7606A"/>
                </a:solidFill>
              </a:rPr>
              <a:t>módulos aws/*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7606A"/>
                </a:solidFill>
              </a:rPr>
              <a:t>pruebas AWS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7606A"/>
                </a:solidFill>
              </a:rPr>
              <a:t>fix CP02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267712" y="4224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803904" y="1188720"/>
            <a:ext cx="1517904" cy="3429000"/>
          </a:xfrm>
          <a:prstGeom prst="roundRect">
            <a:avLst>
              <a:gd name="adj" fmla="val 481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941064" y="129844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428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3941064" y="18745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Eddyson Huamani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941064" y="23774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285F4"/>
                </a:solidFill>
              </a:rPr>
              <a:t>GCP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941064" y="28346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7606A"/>
                </a:solidFill>
              </a:rPr>
              <a:t>módulos gcp/*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7606A"/>
                </a:solidFill>
              </a:rPr>
              <a:t>pruebas GCP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7606A"/>
                </a:solidFill>
              </a:rPr>
              <a:t>fix TFLint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941064" y="4224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min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77256" y="1188720"/>
            <a:ext cx="1517904" cy="3429000"/>
          </a:xfrm>
          <a:prstGeom prst="roundRect">
            <a:avLst>
              <a:gd name="adj" fmla="val 481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14416" y="129844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DA4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3200" dirty="0"/>
          </a:p>
        </p:txBody>
      </p:sp>
      <p:sp>
        <p:nvSpPr>
          <p:cNvPr id="24" name="Text 22"/>
          <p:cNvSpPr txBox="1"/>
          <p:nvPr/>
        </p:nvSpPr>
        <p:spPr>
          <a:xfrm>
            <a:off x="5614416" y="18745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Huber Remuzgo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614416" y="23774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DA44E"/>
                </a:solidFill>
              </a:rPr>
              <a:t>CI/CD y seguridad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614416" y="28346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7606A"/>
                </a:solidFill>
              </a:rPr>
              <a:t>GitHub Actions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7606A"/>
                </a:solidFill>
              </a:rPr>
              <a:t>Checkov, gitleaks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7606A"/>
                </a:solidFill>
              </a:rPr>
              <a:t>lab Docker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614416" y="4224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min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150608" y="1188720"/>
            <a:ext cx="1517904" cy="3429000"/>
          </a:xfrm>
          <a:prstGeom prst="roundRect">
            <a:avLst>
              <a:gd name="adj" fmla="val 481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87768" y="129844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3200" dirty="0"/>
          </a:p>
        </p:txBody>
      </p:sp>
      <p:sp>
        <p:nvSpPr>
          <p:cNvPr id="30" name="Text 28"/>
          <p:cNvSpPr txBox="1"/>
          <p:nvPr/>
        </p:nvSpPr>
        <p:spPr>
          <a:xfrm>
            <a:off x="7287768" y="18745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Karen Quispe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287768" y="23774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9A6B00"/>
                </a:solidFill>
              </a:rPr>
              <a:t>State, Drift, pruebas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287768" y="28346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7606A"/>
                </a:solidFill>
              </a:rPr>
              <a:t>lab State y Drift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7606A"/>
                </a:solidFill>
              </a:rPr>
              <a:t>plan CP01-CP16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7606A"/>
                </a:solidFill>
              </a:rPr>
              <a:t>evidencias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287768" y="4224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min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49E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D01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3317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Thiago Icochea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063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Coordinador y arquitecto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886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01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⏱ 3 min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0" y="1143000"/>
            <a:ext cx="3017520" cy="2286000"/>
          </a:xfrm>
          <a:prstGeom prst="roundRect">
            <a:avLst>
              <a:gd name="adj" fmla="val 3200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89788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expone: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897880" y="1691640"/>
            <a:ext cx="2606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El problema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Datos vs. moldes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branches.yaml → branch-stack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Entornos 40 / 6 / 4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01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01 </a:t>
            </a:r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PROBLEMA</a:t>
            </a:r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Thiago Icochea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3891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 50 configuraciones a mano a un solo patrón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931920" cy="2880360"/>
          </a:xfrm>
          <a:prstGeom prst="roundRect">
            <a:avLst>
              <a:gd name="adj" fmla="val 2540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29844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7606A"/>
                </a:solidFill>
              </a:rPr>
              <a:t>Sin IaC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73736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173736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25880" y="173736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173736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65960" y="173736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86000" y="173736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06040" y="173736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D0102B"/>
          </a:solidFill>
          <a:ln w="12700">
            <a:solidFill>
              <a:srgbClr val="D010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26080" y="173736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46120" y="173736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173736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205740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05840" y="205740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25880" y="205740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45920" y="205740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65960" y="205740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205740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06040" y="205740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26080" y="205740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D0102B"/>
          </a:solidFill>
          <a:ln w="12700">
            <a:solidFill>
              <a:srgbClr val="D010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46120" y="205740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66160" y="205740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5800" y="237744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05840" y="237744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5880" y="237744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D0102B"/>
          </a:solidFill>
          <a:ln w="12700">
            <a:solidFill>
              <a:srgbClr val="D010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45920" y="237744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65960" y="237744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86000" y="237744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06040" y="237744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26080" y="237744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46120" y="237744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66160" y="237744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85800" y="269748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05840" y="269748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325880" y="269748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645920" y="269748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65960" y="269748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286000" y="269748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D0102B"/>
          </a:solidFill>
          <a:ln w="12700">
            <a:solidFill>
              <a:srgbClr val="D0102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606040" y="269748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926080" y="269748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46120" y="269748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566160" y="269748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85800" y="301752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05840" y="301752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325880" y="301752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645920" y="301752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D0102B"/>
          </a:solidFill>
          <a:ln w="12700">
            <a:solidFill>
              <a:srgbClr val="D0102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965960" y="301752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286000" y="301752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606040" y="301752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926080" y="301752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246120" y="301752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566160" y="301752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85800" y="33832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Cada sucursal configurada a mano: errores (en rojo), sin auditoría y sin forma de detectar cambios manuales.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4754880" y="1188720"/>
            <a:ext cx="3931920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5875">
            <a:solidFill>
              <a:srgbClr val="D0102B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983480" y="129844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0102B"/>
                </a:solidFill>
              </a:rPr>
              <a:t>Con IaC (nuestra solución)</a:t>
            </a:r>
            <a:endParaRPr lang="en-US" sz="1500" dirty="0"/>
          </a:p>
        </p:txBody>
      </p:sp>
      <p:sp>
        <p:nvSpPr>
          <p:cNvPr id="59" name="Text 57"/>
          <p:cNvSpPr txBox="1"/>
          <p:nvPr/>
        </p:nvSpPr>
        <p:spPr>
          <a:xfrm>
            <a:off x="4983480" y="17373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01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60" name="Text 58"/>
          <p:cNvSpPr txBox="1"/>
          <p:nvPr/>
        </p:nvSpPr>
        <p:spPr>
          <a:xfrm>
            <a:off x="5715000" y="173736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archivo de datos</a:t>
            </a:r>
            <a:endParaRPr lang="en-US" sz="1250" dirty="0"/>
          </a:p>
          <a:p>
            <a:pPr indent="0" marL="0">
              <a:buNone/>
            </a:pPr>
            <a:r>
              <a:rPr lang="en-US" sz="10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branches.yaml</a:t>
            </a:r>
            <a:endParaRPr lang="en-US" sz="1250" dirty="0"/>
          </a:p>
        </p:txBody>
      </p:sp>
      <p:sp>
        <p:nvSpPr>
          <p:cNvPr id="61" name="Text 59"/>
          <p:cNvSpPr txBox="1"/>
          <p:nvPr/>
        </p:nvSpPr>
        <p:spPr>
          <a:xfrm>
            <a:off x="4983480" y="22860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01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400" dirty="0"/>
          </a:p>
        </p:txBody>
      </p:sp>
      <p:sp>
        <p:nvSpPr>
          <p:cNvPr id="62" name="Text 60"/>
          <p:cNvSpPr txBox="1"/>
          <p:nvPr/>
        </p:nvSpPr>
        <p:spPr>
          <a:xfrm>
            <a:off x="5715000" y="228600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módulos reutilizables</a:t>
            </a:r>
            <a:endParaRPr lang="en-US" sz="1250" dirty="0"/>
          </a:p>
          <a:p>
            <a:pPr indent="0" marL="0">
              <a:buNone/>
            </a:pPr>
            <a:r>
              <a:rPr lang="en-US" sz="10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aws/* + gcp/*</a:t>
            </a:r>
            <a:endParaRPr lang="en-US" sz="1250" dirty="0"/>
          </a:p>
        </p:txBody>
      </p:sp>
      <p:sp>
        <p:nvSpPr>
          <p:cNvPr id="63" name="Text 61"/>
          <p:cNvSpPr txBox="1"/>
          <p:nvPr/>
        </p:nvSpPr>
        <p:spPr>
          <a:xfrm>
            <a:off x="4983480" y="28346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01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64" name="Text 62"/>
          <p:cNvSpPr txBox="1"/>
          <p:nvPr/>
        </p:nvSpPr>
        <p:spPr>
          <a:xfrm>
            <a:off x="5715000" y="283464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orquestador</a:t>
            </a:r>
            <a:endParaRPr lang="en-US" sz="1250" dirty="0"/>
          </a:p>
          <a:p>
            <a:pPr indent="0" marL="0">
              <a:buNone/>
            </a:pPr>
            <a:r>
              <a:rPr lang="en-US" sz="10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branch-stack</a:t>
            </a:r>
            <a:endParaRPr lang="en-US" sz="1250" dirty="0"/>
          </a:p>
        </p:txBody>
      </p:sp>
      <p:sp>
        <p:nvSpPr>
          <p:cNvPr id="65" name="Text 63"/>
          <p:cNvSpPr txBox="1"/>
          <p:nvPr/>
        </p:nvSpPr>
        <p:spPr>
          <a:xfrm>
            <a:off x="4983480" y="338328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01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</a:t>
            </a:r>
            <a:endParaRPr lang="en-US" sz="2400" dirty="0"/>
          </a:p>
        </p:txBody>
      </p:sp>
      <p:sp>
        <p:nvSpPr>
          <p:cNvPr id="66" name="Text 64"/>
          <p:cNvSpPr txBox="1"/>
          <p:nvPr/>
        </p:nvSpPr>
        <p:spPr>
          <a:xfrm>
            <a:off x="5715000" y="338328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sucursales idénticas</a:t>
            </a:r>
            <a:endParaRPr lang="en-US" sz="1250" dirty="0"/>
          </a:p>
          <a:p>
            <a:pPr indent="0" marL="0">
              <a:buNone/>
            </a:pPr>
            <a:r>
              <a:rPr lang="en-US" sz="10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for_each</a:t>
            </a:r>
            <a:endParaRPr lang="en-US" sz="1250" dirty="0"/>
          </a:p>
        </p:txBody>
      </p:sp>
      <p:sp>
        <p:nvSpPr>
          <p:cNvPr id="67" name="Shape 65"/>
          <p:cNvSpPr/>
          <p:nvPr/>
        </p:nvSpPr>
        <p:spPr>
          <a:xfrm>
            <a:off x="457200" y="420624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DECEE"/>
          </a:solidFill>
          <a:ln w="12700">
            <a:solidFill>
              <a:srgbClr val="FDECEE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40080" y="4206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0102B"/>
                </a:solidFill>
              </a:rPr>
              <a:t>Restricción: </a:t>
            </a:r>
            <a:pPr indent="0" marL="0">
              <a:buNone/>
            </a:pPr>
            <a:r>
              <a:rPr lang="en-US" sz="1250" dirty="0">
                <a:solidFill>
                  <a:srgbClr val="1F2328"/>
                </a:solidFill>
              </a:rPr>
              <a:t>sin credenciales de AWS ni GCP → nunca hay apply real; todo se valida con mocks y laboratorios locales.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49E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01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01 </a:t>
            </a:r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ARQUITECTURA</a:t>
            </a:r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Thiago Icochea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3891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Los datos dicen qué; los moldes dicen cómo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2743200" cy="347472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62456"/>
            <a:ext cx="2743200" cy="9144"/>
          </a:xfrm>
          <a:prstGeom prst="rect">
            <a:avLst/>
          </a:prstGeom>
          <a:solidFill>
            <a:srgbClr val="21262D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16152"/>
            <a:ext cx="82296" cy="822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216152"/>
            <a:ext cx="82296" cy="822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216152"/>
            <a:ext cx="82296" cy="822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17043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branches.yaml (resumido)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1453896"/>
            <a:ext cx="246888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sucursales: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id: "suc-001"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provider: "aws"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environment: "production"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cidr_block: "10.10.1.0/24"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servers: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role: "web"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role: "app"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security_rules:  # 80, 443, 22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id: "suc-002"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provider: "gcp"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 50 sucursales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6120" y="2103120"/>
            <a:ext cx="365760" cy="914"/>
          </a:xfrm>
          <a:prstGeom prst="line">
            <a:avLst/>
          </a:prstGeom>
          <a:noFill/>
          <a:ln w="19050">
            <a:solidFill>
              <a:srgbClr val="D0102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657600" y="146304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9050">
            <a:solidFill>
              <a:srgbClr val="D0102B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0" y="1600200"/>
            <a:ext cx="292608" cy="292608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160520" y="158191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branch-stack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794760" y="201168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for_each =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01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local.aws_branches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0" y="301752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entornos (state propio c/u)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657600" y="3291840"/>
            <a:ext cx="2103120" cy="356616"/>
          </a:xfrm>
          <a:prstGeom prst="roundRect">
            <a:avLst>
              <a:gd name="adj" fmla="val 20513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767328" y="3291840"/>
            <a:ext cx="13716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production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120640" y="3291840"/>
            <a:ext cx="548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0102B"/>
                </a:solidFill>
              </a:rPr>
              <a:t>40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3657600" y="3721608"/>
            <a:ext cx="2103120" cy="356616"/>
          </a:xfrm>
          <a:prstGeom prst="roundRect">
            <a:avLst>
              <a:gd name="adj" fmla="val 20513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67328" y="3721608"/>
            <a:ext cx="13716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staging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120640" y="3721608"/>
            <a:ext cx="548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0102B"/>
                </a:solidFill>
              </a:rPr>
              <a:t>6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3657600" y="4151376"/>
            <a:ext cx="2103120" cy="356616"/>
          </a:xfrm>
          <a:prstGeom prst="roundRect">
            <a:avLst>
              <a:gd name="adj" fmla="val 20513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767328" y="4151376"/>
            <a:ext cx="13716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development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120640" y="4151376"/>
            <a:ext cx="548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0102B"/>
                </a:solidFill>
              </a:rPr>
              <a:t>4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 flipV="1">
            <a:off x="5806440" y="1600200"/>
            <a:ext cx="365760" cy="228600"/>
          </a:xfrm>
          <a:prstGeom prst="line">
            <a:avLst/>
          </a:prstGeom>
          <a:noFill/>
          <a:ln w="19050">
            <a:solidFill>
              <a:srgbClr val="FF9900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5806440" y="2423160"/>
            <a:ext cx="365760" cy="548640"/>
          </a:xfrm>
          <a:prstGeom prst="line">
            <a:avLst/>
          </a:prstGeom>
          <a:noFill/>
          <a:ln w="19050">
            <a:solidFill>
              <a:srgbClr val="4285F4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6217920" y="1143000"/>
            <a:ext cx="2468880" cy="1325880"/>
          </a:xfrm>
          <a:prstGeom prst="roundRect">
            <a:avLst>
              <a:gd name="adj" fmla="val 5517"/>
            </a:avLst>
          </a:prstGeom>
          <a:solidFill>
            <a:srgbClr val="FFF5E6"/>
          </a:solidFill>
          <a:ln w="15875">
            <a:solidFill>
              <a:srgbClr val="FF990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55080" y="12344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AWS  </a:t>
            </a:r>
            <a:pPr indent="0" marL="0">
              <a:buNone/>
            </a:pPr>
            <a:r>
              <a:rPr lang="en-US" sz="1200" dirty="0">
                <a:solidFill>
                  <a:srgbClr val="57606A"/>
                </a:solidFill>
              </a:rPr>
              <a:t>25 sucursales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6355080" y="158191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aws/network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aws/security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aws/compute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aws/monitoring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217920" y="2606040"/>
            <a:ext cx="2468880" cy="1325880"/>
          </a:xfrm>
          <a:prstGeom prst="roundRect">
            <a:avLst>
              <a:gd name="adj" fmla="val 5517"/>
            </a:avLst>
          </a:prstGeom>
          <a:solidFill>
            <a:srgbClr val="EDF3FE"/>
          </a:solidFill>
          <a:ln w="15875">
            <a:solidFill>
              <a:srgbClr val="4285F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355080" y="26974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GCP  </a:t>
            </a:r>
            <a:pPr indent="0" marL="0">
              <a:buNone/>
            </a:pPr>
            <a:r>
              <a:rPr lang="en-US" sz="1200" dirty="0">
                <a:solidFill>
                  <a:srgbClr val="57606A"/>
                </a:solidFill>
              </a:rPr>
              <a:t>25 sucursales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6355080" y="304495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gcp/network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gcp/security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gcp/compute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gcp/monitoring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6217920" y="40690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7606A"/>
                </a:solidFill>
              </a:rPr>
              <a:t>Sucursal 51 = una entrada más en el YAML, cero archivos .tf (CP15)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49E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9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3317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Carlos Gonzales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063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Infraestructura AWS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886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⏱ 3 min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0" y="1143000"/>
            <a:ext cx="3017520" cy="2286000"/>
          </a:xfrm>
          <a:prstGeom prst="roundRect">
            <a:avLst>
              <a:gd name="adj" fmla="val 3200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89788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expone: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897880" y="1691640"/>
            <a:ext cx="2606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Una VPC por sucursal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2 servidores EC2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Security Group y CloudWatch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Pruebas con mock_provider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6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02 </a:t>
            </a:r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</a:t>
            </a:r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Carlos Gonzales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3891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AWS: cada sucursal vive en su propia VPC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5577840" cy="3520440"/>
          </a:xfrm>
          <a:prstGeom prst="roundRect">
            <a:avLst>
              <a:gd name="adj" fmla="val 2078"/>
            </a:avLst>
          </a:prstGeom>
          <a:solidFill>
            <a:srgbClr val="FFF5E6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16152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86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aws_vpc  ·  suc-001  ·  10.10.1.0/24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536192"/>
            <a:ext cx="15544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FF990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728216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536192"/>
            <a:ext cx="1024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Subnet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aws_subnet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514600" y="1536192"/>
            <a:ext cx="15544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FF990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172821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971800" y="1536192"/>
            <a:ext cx="1024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Internet GW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389120" y="1536192"/>
            <a:ext cx="14630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FF9900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848" y="172821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846320" y="1536192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Rutas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0.0.0.0/0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2194560" y="1865376"/>
            <a:ext cx="320040" cy="914"/>
          </a:xfrm>
          <a:prstGeom prst="line">
            <a:avLst/>
          </a:prstGeom>
          <a:noFill/>
          <a:ln w="19050">
            <a:solidFill>
              <a:srgbClr val="B86E00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4069080" y="1865376"/>
            <a:ext cx="320040" cy="914"/>
          </a:xfrm>
          <a:prstGeom prst="line">
            <a:avLst/>
          </a:prstGeom>
          <a:noFill/>
          <a:ln w="19050">
            <a:solidFill>
              <a:srgbClr val="B86E00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640080" y="2468880"/>
            <a:ext cx="15544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FF990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281178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97280" y="2468880"/>
            <a:ext cx="10241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Security Group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 · 443 · 22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2514600" y="2606040"/>
            <a:ext cx="15544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FF9900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4328" y="2798064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2971800" y="2606040"/>
            <a:ext cx="1024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web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aws_instance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4389120" y="2606040"/>
            <a:ext cx="14630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FF9900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98848" y="2798064"/>
            <a:ext cx="274320" cy="2743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4846320" y="2606040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app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aws_instance</a:t>
            </a:r>
            <a:endParaRPr lang="en-US" sz="1200" dirty="0"/>
          </a:p>
        </p:txBody>
      </p:sp>
      <p:sp>
        <p:nvSpPr>
          <p:cNvPr id="26" name="Shape 18"/>
          <p:cNvSpPr/>
          <p:nvPr/>
        </p:nvSpPr>
        <p:spPr>
          <a:xfrm>
            <a:off x="2194560" y="2935224"/>
            <a:ext cx="320040" cy="914"/>
          </a:xfrm>
          <a:prstGeom prst="line">
            <a:avLst/>
          </a:prstGeom>
          <a:noFill/>
          <a:ln w="19050">
            <a:solidFill>
              <a:srgbClr val="B86E00"/>
            </a:solidFill>
            <a:prstDash val="solid"/>
            <a:tailEnd type="triangle"/>
          </a:ln>
        </p:spPr>
      </p:sp>
      <p:sp>
        <p:nvSpPr>
          <p:cNvPr id="27" name="Shape 19"/>
          <p:cNvSpPr/>
          <p:nvPr/>
        </p:nvSpPr>
        <p:spPr>
          <a:xfrm>
            <a:off x="3291840" y="3264408"/>
            <a:ext cx="914" cy="484632"/>
          </a:xfrm>
          <a:prstGeom prst="line">
            <a:avLst/>
          </a:prstGeom>
          <a:noFill/>
          <a:ln w="19050">
            <a:solidFill>
              <a:srgbClr val="B86E00"/>
            </a:solidFill>
            <a:prstDash val="solid"/>
            <a:tailEnd type="triangle"/>
          </a:ln>
        </p:spPr>
      </p:sp>
      <p:sp>
        <p:nvSpPr>
          <p:cNvPr id="28" name="Shape 20"/>
          <p:cNvSpPr/>
          <p:nvPr/>
        </p:nvSpPr>
        <p:spPr>
          <a:xfrm>
            <a:off x="5120640" y="3264408"/>
            <a:ext cx="914" cy="484632"/>
          </a:xfrm>
          <a:prstGeom prst="line">
            <a:avLst/>
          </a:prstGeom>
          <a:noFill/>
          <a:ln w="19050">
            <a:solidFill>
              <a:srgbClr val="B86E00"/>
            </a:solidFill>
            <a:prstDash val="solid"/>
            <a:tailEnd type="triangle"/>
          </a:ln>
        </p:spPr>
      </p:sp>
      <p:sp>
        <p:nvSpPr>
          <p:cNvPr id="29" name="Shape 21"/>
          <p:cNvSpPr/>
          <p:nvPr/>
        </p:nvSpPr>
        <p:spPr>
          <a:xfrm>
            <a:off x="2514600" y="3767328"/>
            <a:ext cx="33375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5875">
            <a:solidFill>
              <a:srgbClr val="FF990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24328" y="3973068"/>
            <a:ext cx="274320" cy="27432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2971800" y="3767328"/>
            <a:ext cx="2807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CloudWatch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 group + alarma CPU por servidor</a:t>
            </a:r>
            <a:endParaRPr lang="en-US" sz="1200" dirty="0"/>
          </a:p>
        </p:txBody>
      </p:sp>
      <p:sp>
        <p:nvSpPr>
          <p:cNvPr id="32" name="Shape 23"/>
          <p:cNvSpPr/>
          <p:nvPr/>
        </p:nvSpPr>
        <p:spPr>
          <a:xfrm>
            <a:off x="6263640" y="1143000"/>
            <a:ext cx="1143000" cy="822960"/>
          </a:xfrm>
          <a:prstGeom prst="roundRect">
            <a:avLst>
              <a:gd name="adj" fmla="val 888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6263640" y="1216152"/>
            <a:ext cx="11430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6E00"/>
                </a:solidFill>
              </a:rPr>
              <a:t>25</a:t>
            </a:r>
            <a:endParaRPr lang="en-US" sz="2600" dirty="0"/>
          </a:p>
        </p:txBody>
      </p:sp>
      <p:sp>
        <p:nvSpPr>
          <p:cNvPr id="34" name="Text 25"/>
          <p:cNvSpPr txBox="1"/>
          <p:nvPr/>
        </p:nvSpPr>
        <p:spPr>
          <a:xfrm>
            <a:off x="6309360" y="1636776"/>
            <a:ext cx="1051560" cy="296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VPC</a:t>
            </a:r>
            <a:endParaRPr lang="en-US" sz="1050" dirty="0"/>
          </a:p>
        </p:txBody>
      </p:sp>
      <p:sp>
        <p:nvSpPr>
          <p:cNvPr id="35" name="Shape 26"/>
          <p:cNvSpPr/>
          <p:nvPr/>
        </p:nvSpPr>
        <p:spPr>
          <a:xfrm>
            <a:off x="7543800" y="1143000"/>
            <a:ext cx="1143000" cy="822960"/>
          </a:xfrm>
          <a:prstGeom prst="roundRect">
            <a:avLst>
              <a:gd name="adj" fmla="val 888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7543800" y="1216152"/>
            <a:ext cx="11430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6E00"/>
                </a:solidFill>
              </a:rPr>
              <a:t>50</a:t>
            </a:r>
            <a:endParaRPr lang="en-US" sz="2600" dirty="0"/>
          </a:p>
        </p:txBody>
      </p:sp>
      <p:sp>
        <p:nvSpPr>
          <p:cNvPr id="37" name="Text 28"/>
          <p:cNvSpPr txBox="1"/>
          <p:nvPr/>
        </p:nvSpPr>
        <p:spPr>
          <a:xfrm>
            <a:off x="7589520" y="1636776"/>
            <a:ext cx="1051560" cy="296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EC2</a:t>
            </a:r>
            <a:endParaRPr lang="en-US" sz="1050" dirty="0"/>
          </a:p>
        </p:txBody>
      </p:sp>
      <p:sp>
        <p:nvSpPr>
          <p:cNvPr id="38" name="Shape 29"/>
          <p:cNvSpPr/>
          <p:nvPr/>
        </p:nvSpPr>
        <p:spPr>
          <a:xfrm>
            <a:off x="6263640" y="2103120"/>
            <a:ext cx="1143000" cy="822960"/>
          </a:xfrm>
          <a:prstGeom prst="roundRect">
            <a:avLst>
              <a:gd name="adj" fmla="val 888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6263640" y="2176272"/>
            <a:ext cx="11430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6E00"/>
                </a:solidFill>
              </a:rPr>
              <a:t>75</a:t>
            </a:r>
            <a:endParaRPr lang="en-US" sz="2600" dirty="0"/>
          </a:p>
        </p:txBody>
      </p:sp>
      <p:sp>
        <p:nvSpPr>
          <p:cNvPr id="40" name="Text 31"/>
          <p:cNvSpPr txBox="1"/>
          <p:nvPr/>
        </p:nvSpPr>
        <p:spPr>
          <a:xfrm>
            <a:off x="6309360" y="2596896"/>
            <a:ext cx="1051560" cy="296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reglas SG</a:t>
            </a:r>
            <a:endParaRPr lang="en-US" sz="1050" dirty="0"/>
          </a:p>
        </p:txBody>
      </p:sp>
      <p:sp>
        <p:nvSpPr>
          <p:cNvPr id="41" name="Shape 32"/>
          <p:cNvSpPr/>
          <p:nvPr/>
        </p:nvSpPr>
        <p:spPr>
          <a:xfrm>
            <a:off x="7543800" y="2103120"/>
            <a:ext cx="1143000" cy="822960"/>
          </a:xfrm>
          <a:prstGeom prst="roundRect">
            <a:avLst>
              <a:gd name="adj" fmla="val 888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42" name="Text 33"/>
          <p:cNvSpPr txBox="1"/>
          <p:nvPr/>
        </p:nvSpPr>
        <p:spPr>
          <a:xfrm>
            <a:off x="7543800" y="2176272"/>
            <a:ext cx="11430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6E00"/>
                </a:solidFill>
              </a:rPr>
              <a:t>50</a:t>
            </a:r>
            <a:endParaRPr lang="en-US" sz="2600" dirty="0"/>
          </a:p>
        </p:txBody>
      </p:sp>
      <p:sp>
        <p:nvSpPr>
          <p:cNvPr id="43" name="Text 34"/>
          <p:cNvSpPr txBox="1"/>
          <p:nvPr/>
        </p:nvSpPr>
        <p:spPr>
          <a:xfrm>
            <a:off x="7589520" y="2596896"/>
            <a:ext cx="1051560" cy="296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alarmas</a:t>
            </a:r>
            <a:endParaRPr lang="en-US" sz="1050" dirty="0"/>
          </a:p>
        </p:txBody>
      </p:sp>
      <p:sp>
        <p:nvSpPr>
          <p:cNvPr id="44" name="Text 35"/>
          <p:cNvSpPr txBox="1"/>
          <p:nvPr/>
        </p:nvSpPr>
        <p:spPr>
          <a:xfrm>
            <a:off x="6263640" y="3108960"/>
            <a:ext cx="2423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VPC propia en vez de una compartida: aislamiento real y un error no afecta a otras sucursales.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49E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6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02 </a:t>
            </a:r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PRUEBAS AWS</a:t>
            </a:r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Carlos Gonzales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3891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 error real atrapado antes de desplegar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43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0102B"/>
                </a:solidFill>
              </a:rPr>
              <a:t>1ª corrida: falla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FDECEE"/>
          </a:solidFill>
          <a:ln w="12700">
            <a:solidFill>
              <a:srgbClr val="FDECE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00200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14400" y="15087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01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aws_route_table.this.route[0]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7606A"/>
                </a:solidFill>
              </a:rPr>
              <a:t>route es un set: no tiene índice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4231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A44E"/>
                </a:solidFill>
              </a:rPr>
              <a:t>Corrección: buscar dentro del set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274320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88036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14400" y="281635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anytrue([for r 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aws_route_table.this.route 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r.cidr_block == "0.0.0.0/0"])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38862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7606A"/>
                </a:solidFill>
              </a:rPr>
              <a:t>mock_provider "aws" {} simula AWS: cero llamadas reales, cero costo.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754880" y="1143000"/>
            <a:ext cx="3931920" cy="3520440"/>
          </a:xfrm>
          <a:prstGeom prst="roundRect">
            <a:avLst>
              <a:gd name="adj" fmla="val 1558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754880" y="1362456"/>
            <a:ext cx="3931920" cy="9144"/>
          </a:xfrm>
          <a:prstGeom prst="rect">
            <a:avLst/>
          </a:prstGeom>
          <a:solidFill>
            <a:srgbClr val="21262D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864608" y="1216152"/>
            <a:ext cx="82296" cy="822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001768" y="1216152"/>
            <a:ext cx="82296" cy="822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138928" y="1216152"/>
            <a:ext cx="82296" cy="822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303520" y="117043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 test  (extracto real)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892040" y="1453896"/>
            <a:ext cx="3657600" cy="3136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aws_compute.tftest.hcl...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aws_monitoring.tftest.hcl...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aws_network.tftest.hcl... in progress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 "vpc_usa_el_cidr_declarado"...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 "subnet_usa_el_cidr_declarado"...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 "ruta_por_defecto_apunta_al_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internet_gateway"...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 "rechaza_cidr_invalido"...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aws_network.tftest.hcl...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aws_security.tftest.hcl...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Success! 27 passed, 0 failed.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49E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428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3317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Eddyson Huamani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063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Infraestructura GCP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886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28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⏱ 3 min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0" y="1143000"/>
            <a:ext cx="3017520" cy="2286000"/>
          </a:xfrm>
          <a:prstGeom prst="roundRect">
            <a:avLst>
              <a:gd name="adj" fmla="val 3200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89788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expone: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897880" y="1691640"/>
            <a:ext cx="2606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VPC personalizada + Cloud NAT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Firewall: una regla por recurso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Diferencias con AWS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Pruebas y TFLint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5F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03 </a:t>
            </a:r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GCP</a:t>
            </a:r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Eddyson Huamani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3891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GCP: red personalizada con salida por Cloud NAT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5577840" cy="3520440"/>
          </a:xfrm>
          <a:prstGeom prst="roundRect">
            <a:avLst>
              <a:gd name="adj" fmla="val 2078"/>
            </a:avLst>
          </a:prstGeom>
          <a:solidFill>
            <a:srgbClr val="EDF3FE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16152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5F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google_compute_network  ·  suc-002  ·  modo personalizado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536192"/>
            <a:ext cx="15544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4285F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728216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536192"/>
            <a:ext cx="1024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Subnetwork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regional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514600" y="1536192"/>
            <a:ext cx="15544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4285F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172821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971800" y="1536192"/>
            <a:ext cx="1024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Cloud Router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compute_router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389120" y="1536192"/>
            <a:ext cx="14630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4285F4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848" y="172821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846320" y="1536192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Cloud NAT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salida a Internet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2194560" y="1865376"/>
            <a:ext cx="320040" cy="914"/>
          </a:xfrm>
          <a:prstGeom prst="line">
            <a:avLst/>
          </a:prstGeom>
          <a:noFill/>
          <a:ln w="19050">
            <a:solidFill>
              <a:srgbClr val="1A5FD0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4069080" y="1865376"/>
            <a:ext cx="320040" cy="914"/>
          </a:xfrm>
          <a:prstGeom prst="line">
            <a:avLst/>
          </a:prstGeom>
          <a:noFill/>
          <a:ln w="19050">
            <a:solidFill>
              <a:srgbClr val="1A5FD0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640080" y="2468880"/>
            <a:ext cx="15544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4285F4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281178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97280" y="2468880"/>
            <a:ext cx="10241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Firewall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recurso por regla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2514600" y="2606040"/>
            <a:ext cx="15544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4285F4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4328" y="2798064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2971800" y="2606040"/>
            <a:ext cx="1024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web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compute_instance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4389120" y="2606040"/>
            <a:ext cx="14630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4285F4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98848" y="2798064"/>
            <a:ext cx="274320" cy="2743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4846320" y="2606040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app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compute_instance</a:t>
            </a:r>
            <a:endParaRPr lang="en-US" sz="1200" dirty="0"/>
          </a:p>
        </p:txBody>
      </p:sp>
      <p:sp>
        <p:nvSpPr>
          <p:cNvPr id="26" name="Shape 18"/>
          <p:cNvSpPr/>
          <p:nvPr/>
        </p:nvSpPr>
        <p:spPr>
          <a:xfrm>
            <a:off x="2194560" y="2935224"/>
            <a:ext cx="320040" cy="914"/>
          </a:xfrm>
          <a:prstGeom prst="line">
            <a:avLst/>
          </a:prstGeom>
          <a:noFill/>
          <a:ln w="19050">
            <a:solidFill>
              <a:srgbClr val="1A5FD0"/>
            </a:solidFill>
            <a:prstDash val="solid"/>
            <a:tailEnd type="triangle"/>
          </a:ln>
        </p:spPr>
      </p:sp>
      <p:sp>
        <p:nvSpPr>
          <p:cNvPr id="27" name="Shape 19"/>
          <p:cNvSpPr/>
          <p:nvPr/>
        </p:nvSpPr>
        <p:spPr>
          <a:xfrm>
            <a:off x="3291840" y="3264408"/>
            <a:ext cx="914" cy="484632"/>
          </a:xfrm>
          <a:prstGeom prst="line">
            <a:avLst/>
          </a:prstGeom>
          <a:noFill/>
          <a:ln w="19050">
            <a:solidFill>
              <a:srgbClr val="1A5FD0"/>
            </a:solidFill>
            <a:prstDash val="solid"/>
            <a:tailEnd type="triangle"/>
          </a:ln>
        </p:spPr>
      </p:sp>
      <p:sp>
        <p:nvSpPr>
          <p:cNvPr id="28" name="Shape 20"/>
          <p:cNvSpPr/>
          <p:nvPr/>
        </p:nvSpPr>
        <p:spPr>
          <a:xfrm>
            <a:off x="5120640" y="3264408"/>
            <a:ext cx="914" cy="484632"/>
          </a:xfrm>
          <a:prstGeom prst="line">
            <a:avLst/>
          </a:prstGeom>
          <a:noFill/>
          <a:ln w="19050">
            <a:solidFill>
              <a:srgbClr val="1A5FD0"/>
            </a:solidFill>
            <a:prstDash val="solid"/>
            <a:tailEnd type="triangle"/>
          </a:ln>
        </p:spPr>
      </p:sp>
      <p:sp>
        <p:nvSpPr>
          <p:cNvPr id="29" name="Shape 21"/>
          <p:cNvSpPr/>
          <p:nvPr/>
        </p:nvSpPr>
        <p:spPr>
          <a:xfrm>
            <a:off x="2514600" y="3767328"/>
            <a:ext cx="33375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5875">
            <a:solidFill>
              <a:srgbClr val="4285F4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24328" y="3973068"/>
            <a:ext cx="274320" cy="27432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2971800" y="3767328"/>
            <a:ext cx="2807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Cloud Monitoring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alerta si CPU &gt; 80%</a:t>
            </a:r>
            <a:endParaRPr lang="en-US" sz="1200" dirty="0"/>
          </a:p>
        </p:txBody>
      </p:sp>
      <p:sp>
        <p:nvSpPr>
          <p:cNvPr id="32" name="Shape 23"/>
          <p:cNvSpPr/>
          <p:nvPr/>
        </p:nvSpPr>
        <p:spPr>
          <a:xfrm>
            <a:off x="6263640" y="1143000"/>
            <a:ext cx="1143000" cy="822960"/>
          </a:xfrm>
          <a:prstGeom prst="roundRect">
            <a:avLst>
              <a:gd name="adj" fmla="val 888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6263640" y="1216152"/>
            <a:ext cx="11430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5FD0"/>
                </a:solidFill>
              </a:rPr>
              <a:t>25</a:t>
            </a:r>
            <a:endParaRPr lang="en-US" sz="2600" dirty="0"/>
          </a:p>
        </p:txBody>
      </p:sp>
      <p:sp>
        <p:nvSpPr>
          <p:cNvPr id="34" name="Text 25"/>
          <p:cNvSpPr txBox="1"/>
          <p:nvPr/>
        </p:nvSpPr>
        <p:spPr>
          <a:xfrm>
            <a:off x="6309360" y="1636776"/>
            <a:ext cx="1051560" cy="296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redes VPC</a:t>
            </a:r>
            <a:endParaRPr lang="en-US" sz="1050" dirty="0"/>
          </a:p>
        </p:txBody>
      </p:sp>
      <p:sp>
        <p:nvSpPr>
          <p:cNvPr id="35" name="Shape 26"/>
          <p:cNvSpPr/>
          <p:nvPr/>
        </p:nvSpPr>
        <p:spPr>
          <a:xfrm>
            <a:off x="7543800" y="1143000"/>
            <a:ext cx="1143000" cy="822960"/>
          </a:xfrm>
          <a:prstGeom prst="roundRect">
            <a:avLst>
              <a:gd name="adj" fmla="val 888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7543800" y="1216152"/>
            <a:ext cx="11430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5FD0"/>
                </a:solidFill>
              </a:rPr>
              <a:t>50</a:t>
            </a:r>
            <a:endParaRPr lang="en-US" sz="2600" dirty="0"/>
          </a:p>
        </p:txBody>
      </p:sp>
      <p:sp>
        <p:nvSpPr>
          <p:cNvPr id="37" name="Text 28"/>
          <p:cNvSpPr txBox="1"/>
          <p:nvPr/>
        </p:nvSpPr>
        <p:spPr>
          <a:xfrm>
            <a:off x="7589520" y="1636776"/>
            <a:ext cx="1051560" cy="296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VM</a:t>
            </a:r>
            <a:endParaRPr lang="en-US" sz="1050" dirty="0"/>
          </a:p>
        </p:txBody>
      </p:sp>
      <p:sp>
        <p:nvSpPr>
          <p:cNvPr id="38" name="Shape 29"/>
          <p:cNvSpPr/>
          <p:nvPr/>
        </p:nvSpPr>
        <p:spPr>
          <a:xfrm>
            <a:off x="6263640" y="2103120"/>
            <a:ext cx="1143000" cy="822960"/>
          </a:xfrm>
          <a:prstGeom prst="roundRect">
            <a:avLst>
              <a:gd name="adj" fmla="val 888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6263640" y="2176272"/>
            <a:ext cx="11430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5FD0"/>
                </a:solidFill>
              </a:rPr>
              <a:t>75</a:t>
            </a:r>
            <a:endParaRPr lang="en-US" sz="2600" dirty="0"/>
          </a:p>
        </p:txBody>
      </p:sp>
      <p:sp>
        <p:nvSpPr>
          <p:cNvPr id="40" name="Text 31"/>
          <p:cNvSpPr txBox="1"/>
          <p:nvPr/>
        </p:nvSpPr>
        <p:spPr>
          <a:xfrm>
            <a:off x="6309360" y="2596896"/>
            <a:ext cx="1051560" cy="296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firewall</a:t>
            </a:r>
            <a:endParaRPr lang="en-US" sz="1050" dirty="0"/>
          </a:p>
        </p:txBody>
      </p:sp>
      <p:sp>
        <p:nvSpPr>
          <p:cNvPr id="41" name="Shape 32"/>
          <p:cNvSpPr/>
          <p:nvPr/>
        </p:nvSpPr>
        <p:spPr>
          <a:xfrm>
            <a:off x="7543800" y="2103120"/>
            <a:ext cx="1143000" cy="822960"/>
          </a:xfrm>
          <a:prstGeom prst="roundRect">
            <a:avLst>
              <a:gd name="adj" fmla="val 888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42" name="Text 33"/>
          <p:cNvSpPr txBox="1"/>
          <p:nvPr/>
        </p:nvSpPr>
        <p:spPr>
          <a:xfrm>
            <a:off x="7543800" y="2176272"/>
            <a:ext cx="11430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5FD0"/>
                </a:solidFill>
              </a:rPr>
              <a:t>25</a:t>
            </a:r>
            <a:endParaRPr lang="en-US" sz="2600" dirty="0"/>
          </a:p>
        </p:txBody>
      </p:sp>
      <p:sp>
        <p:nvSpPr>
          <p:cNvPr id="43" name="Text 34"/>
          <p:cNvSpPr txBox="1"/>
          <p:nvPr/>
        </p:nvSpPr>
        <p:spPr>
          <a:xfrm>
            <a:off x="7589520" y="2596896"/>
            <a:ext cx="1051560" cy="296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alertas</a:t>
            </a:r>
            <a:endParaRPr lang="en-US" sz="1050" dirty="0"/>
          </a:p>
        </p:txBody>
      </p:sp>
      <p:sp>
        <p:nvSpPr>
          <p:cNvPr id="44" name="Text 35"/>
          <p:cNvSpPr txBox="1"/>
          <p:nvPr/>
        </p:nvSpPr>
        <p:spPr>
          <a:xfrm>
            <a:off x="6263640" y="3108960"/>
            <a:ext cx="2423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Modo personalizado: GCP no crea subnets automáticas en todas las regiones; cada sucursal declara solo la suya.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49E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5F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03 </a:t>
            </a:r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 VS GCP</a:t>
            </a:r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Eddyson Huamani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3891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Misma entrada lógica, diferencias reales respetadas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49377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Aspecto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AWS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6E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GCP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D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</a:rPr>
                        <a:t>Reglas de seguridad</a:t>
                      </a:r>
                      <a:endParaRPr lang="en-US" sz="115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</a:rPr>
                        <a:t>Security Group con N reglas</a:t>
                      </a:r>
                      <a:endParaRPr lang="en-US" sz="115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</a:rPr>
                        <a:t>Un firewall por regla</a:t>
                      </a:r>
                      <a:endParaRPr lang="en-US" sz="115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</a:rPr>
                        <a:t>Salida a Internet</a:t>
                      </a:r>
                      <a:endParaRPr lang="en-US" sz="115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</a:rPr>
                        <a:t>Internet Gateway + ruta</a:t>
                      </a:r>
                      <a:endParaRPr lang="en-US" sz="115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</a:rPr>
                        <a:t>Cloud Router + NAT</a:t>
                      </a:r>
                      <a:endParaRPr lang="en-US" sz="115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</a:rPr>
                        <a:t>Región</a:t>
                      </a:r>
                      <a:endParaRPr lang="en-US" sz="115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</a:rPr>
                        <a:t>En el provider</a:t>
                      </a:r>
                      <a:endParaRPr lang="en-US" sz="115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</a:rPr>
                        <a:t>En cada recurso</a:t>
                      </a:r>
                      <a:endParaRPr lang="en-US" sz="115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</a:rPr>
                        <a:t>Logs</a:t>
                      </a:r>
                      <a:endParaRPr lang="en-US" sz="115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</a:rPr>
                        <a:t>Retención por Log Group</a:t>
                      </a:r>
                      <a:endParaRPr lang="en-US" sz="115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</a:rPr>
                        <a:t>Retención por proyecto</a:t>
                      </a:r>
                      <a:endParaRPr lang="en-US" sz="115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657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Común en branches.yaml: </a:t>
            </a:r>
            <a:pPr indent="0" marL="0">
              <a:buNone/>
            </a:pPr>
            <a:r>
              <a:rPr lang="en-US" sz="1200" dirty="0">
                <a:solidFill>
                  <a:srgbClr val="1A5F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size, servers, rules, monitoring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069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7606A"/>
                </a:solidFill>
              </a:rPr>
              <a:t>TFLint (CI) marcó 4 advertencias en gcp/*: variables sin uso y una interpolación obsoleta → corregidas.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669280" y="1143000"/>
            <a:ext cx="3017520" cy="3520440"/>
          </a:xfrm>
          <a:prstGeom prst="roundRect">
            <a:avLst>
              <a:gd name="adj" fmla="val 1818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669280" y="1362456"/>
            <a:ext cx="3017520" cy="9144"/>
          </a:xfrm>
          <a:prstGeom prst="rect">
            <a:avLst/>
          </a:prstGeom>
          <a:solidFill>
            <a:srgbClr val="21262D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779008" y="1216152"/>
            <a:ext cx="82296" cy="822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16168" y="1216152"/>
            <a:ext cx="82296" cy="822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053328" y="1216152"/>
            <a:ext cx="82296" cy="822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0" y="11704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 test  (extracto real)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5806440" y="1453896"/>
            <a:ext cx="2743200" cy="3136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gcp_compute.tftest.hcl...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gcp_monitoring.tftest.hcl...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gcp_network.tftest.hcl...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 "vpc_es_de_modo_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personalizado"...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 "rechaza_subnet_cidr_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invalido"...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gcp_network.tftest.hcl...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gcp_security.tftest.hcl...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 "rechaza_puerto_fuera_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de_rango"...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gcp_security.tftest.hcl... pass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49E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2DA4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3317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Huber Remuzgo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063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CI/CD y seguridad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886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A4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⏱ 3 min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0" y="1143000"/>
            <a:ext cx="3017520" cy="2286000"/>
          </a:xfrm>
          <a:prstGeom prst="roundRect">
            <a:avLst>
              <a:gd name="adj" fmla="val 3200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89788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expone: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897880" y="1691640"/>
            <a:ext cx="2606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Pipeline común AWS + GCP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Aprobación por Pull Request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Secretos: gitleaks y Checkov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Laboratorio Docker en CI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DA4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04 </a:t>
            </a:r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CI/CD</a:t>
            </a:r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Huber Remuzgo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3891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 pipeline para ambos proveedores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216152" cy="822960"/>
          </a:xfrm>
          <a:prstGeom prst="roundRect">
            <a:avLst>
              <a:gd name="adj" fmla="val 888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88720"/>
            <a:ext cx="1216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fmt</a:t>
            </a:r>
            <a:endParaRPr lang="en-US" sz="12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formato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1691640" y="1600200"/>
            <a:ext cx="146304" cy="914"/>
          </a:xfrm>
          <a:prstGeom prst="line">
            <a:avLst/>
          </a:prstGeom>
          <a:noFill/>
          <a:ln w="19050">
            <a:solidFill>
              <a:srgbClr val="57606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856232" y="1188720"/>
            <a:ext cx="1216152" cy="822960"/>
          </a:xfrm>
          <a:prstGeom prst="roundRect">
            <a:avLst>
              <a:gd name="adj" fmla="val 888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56232" y="1188720"/>
            <a:ext cx="1216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</a:t>
            </a:r>
            <a:endParaRPr lang="en-US" sz="12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x3 entornos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090672" y="1600200"/>
            <a:ext cx="146304" cy="914"/>
          </a:xfrm>
          <a:prstGeom prst="line">
            <a:avLst/>
          </a:prstGeom>
          <a:noFill/>
          <a:ln w="19050">
            <a:solidFill>
              <a:srgbClr val="57606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255264" y="1188720"/>
            <a:ext cx="1216152" cy="822960"/>
          </a:xfrm>
          <a:prstGeom prst="roundRect">
            <a:avLst>
              <a:gd name="adj" fmla="val 888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55264" y="1188720"/>
            <a:ext cx="1216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</a:t>
            </a:r>
            <a:endParaRPr lang="en-US" sz="12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50 sucursales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489704" y="1600200"/>
            <a:ext cx="146304" cy="914"/>
          </a:xfrm>
          <a:prstGeom prst="line">
            <a:avLst/>
          </a:prstGeom>
          <a:noFill/>
          <a:ln w="19050">
            <a:solidFill>
              <a:srgbClr val="57606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654296" y="1188720"/>
            <a:ext cx="1216152" cy="822960"/>
          </a:xfrm>
          <a:prstGeom prst="roundRect">
            <a:avLst>
              <a:gd name="adj" fmla="val 888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54296" y="1188720"/>
            <a:ext cx="1216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endParaRPr lang="en-US" sz="12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27 pruebas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88736" y="1600200"/>
            <a:ext cx="146304" cy="914"/>
          </a:xfrm>
          <a:prstGeom prst="line">
            <a:avLst/>
          </a:prstGeom>
          <a:noFill/>
          <a:ln w="19050">
            <a:solidFill>
              <a:srgbClr val="57606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053328" y="1188720"/>
            <a:ext cx="1216152" cy="822960"/>
          </a:xfrm>
          <a:prstGeom prst="roundRect">
            <a:avLst>
              <a:gd name="adj" fmla="val 8889"/>
            </a:avLst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53328" y="1188720"/>
            <a:ext cx="1216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TFLint</a:t>
            </a:r>
            <a:endParaRPr lang="en-US" sz="12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estilo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287768" y="1600200"/>
            <a:ext cx="146304" cy="914"/>
          </a:xfrm>
          <a:prstGeom prst="line">
            <a:avLst/>
          </a:prstGeom>
          <a:noFill/>
          <a:ln w="19050">
            <a:solidFill>
              <a:srgbClr val="57606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452360" y="1188720"/>
            <a:ext cx="1216152" cy="822960"/>
          </a:xfrm>
          <a:prstGeom prst="roundRect">
            <a:avLst>
              <a:gd name="adj" fmla="val 8889"/>
            </a:avLst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52360" y="1188720"/>
            <a:ext cx="1216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Checkov</a:t>
            </a:r>
            <a:endParaRPr lang="en-US" sz="12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+ gitleaks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2286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Aprobación de un cambio</a:t>
            </a:r>
            <a:endParaRPr lang="en-US" sz="14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724912"/>
            <a:ext cx="256032" cy="256032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914400" y="2670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28"/>
                </a:solidFill>
              </a:rPr>
              <a:t>Rama feature/... → Pull Request</a:t>
            </a:r>
            <a:endParaRPr lang="en-US" sz="125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00400"/>
            <a:ext cx="256032" cy="256032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914400" y="314553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28"/>
                </a:solidFill>
              </a:rPr>
              <a:t>Validaciones automáticas en verde</a:t>
            </a:r>
            <a:endParaRPr lang="en-US" sz="125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675888"/>
            <a:ext cx="256032" cy="256032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914400" y="362102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28"/>
                </a:solidFill>
              </a:rPr>
              <a:t>Revisor humano con checklist</a:t>
            </a:r>
            <a:endParaRPr lang="en-US" sz="1250" dirty="0"/>
          </a:p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4151376"/>
            <a:ext cx="256032" cy="25603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914400" y="40965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28"/>
                </a:solidFill>
              </a:rPr>
              <a:t>Merge a main (sin apply real)</a:t>
            </a:r>
            <a:endParaRPr lang="en-US" sz="1250" dirty="0"/>
          </a:p>
        </p:txBody>
      </p:sp>
      <p:sp>
        <p:nvSpPr>
          <p:cNvPr id="30" name="Shape 24"/>
          <p:cNvSpPr/>
          <p:nvPr/>
        </p:nvSpPr>
        <p:spPr>
          <a:xfrm>
            <a:off x="4846320" y="2286000"/>
            <a:ext cx="3840480" cy="2331720"/>
          </a:xfrm>
          <a:prstGeom prst="roundRect">
            <a:avLst>
              <a:gd name="adj" fmla="val 3137"/>
            </a:avLst>
          </a:prstGeom>
          <a:solidFill>
            <a:srgbClr val="0E1116"/>
          </a:solidFill>
          <a:ln w="12700">
            <a:solidFill>
              <a:srgbClr val="0E1116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029200" y="239572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¿Por qué nunca hay apply real?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5029200" y="2788920"/>
            <a:ext cx="3520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</a:rPr>
              <a:t>Sin credenciales → init -backend=false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</a:rPr>
              <a:t>Futuro: OIDC a IAM / Workload Identity, sin claves estáticas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</a:rPr>
              <a:t>apply solo tras aprobación en GitHub Environment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</a:rPr>
              <a:t>Checkov frena configuraciones inseguras antes de desplegar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49E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DA4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04 </a:t>
            </a:r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SEGURIDAD Y DOCKER</a:t>
            </a:r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Huber Remuzgo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3891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Cero secretos en el repo y aislamiento probado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25296"/>
            <a:ext cx="457200" cy="457200"/>
          </a:xfrm>
          <a:prstGeom prst="ellipse">
            <a:avLst/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1887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.gitignore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</a:rPr>
              <a:t>excluye .tfstate, .tfvars, .pem, .key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57200" y="1911096"/>
            <a:ext cx="457200" cy="457200"/>
          </a:xfrm>
          <a:prstGeom prst="ellipse">
            <a:avLst/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20824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51560" y="1874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gitleaks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</a:rPr>
              <a:t>escanea todo el historial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457200" y="2596896"/>
            <a:ext cx="457200" cy="457200"/>
          </a:xfrm>
          <a:prstGeom prst="ellipse">
            <a:avLst/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706624"/>
            <a:ext cx="237744" cy="23774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25603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Verificación extra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</a:rPr>
              <a:t>falla si se sube un state o una clave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457200" y="3282696"/>
            <a:ext cx="457200" cy="457200"/>
          </a:xfrm>
          <a:prstGeom prst="ellipse">
            <a:avLst/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3392424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51560" y="32461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Mínimo privilegio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</a:rPr>
              <a:t>roles IAM acotados por entorno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457200" y="4023360"/>
            <a:ext cx="3520440" cy="594360"/>
          </a:xfrm>
          <a:prstGeom prst="roundRect">
            <a:avLst>
              <a:gd name="adj" fmla="val 1230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94360" y="40233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Lab Docker: corrió en GitHub Actions (ubuntu-latest) porque el equipo local no tenía Docker operativo.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4251960" y="1143000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E9F6EE"/>
          </a:solidFill>
          <a:ln w="15875">
            <a:solidFill>
              <a:srgbClr val="2DA44E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4361688" y="11887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DA4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sucursal-01-net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4361688" y="146304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2DA44E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1416" y="1554480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818888" y="146304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suc01-web01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4361688" y="201168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2DA44E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1416" y="2103120"/>
            <a:ext cx="274320" cy="2743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4818888" y="201168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suc01-app01</a:t>
            </a:r>
            <a:endParaRPr lang="en-US" sz="1200" dirty="0"/>
          </a:p>
        </p:txBody>
      </p:sp>
      <p:sp>
        <p:nvSpPr>
          <p:cNvPr id="26" name="Shape 18"/>
          <p:cNvSpPr/>
          <p:nvPr/>
        </p:nvSpPr>
        <p:spPr>
          <a:xfrm>
            <a:off x="6629400" y="1143000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E9F6EE"/>
          </a:solidFill>
          <a:ln w="15875">
            <a:solidFill>
              <a:srgbClr val="2DA44E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6739128" y="11887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DA4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sucursal-02-net</a:t>
            </a:r>
            <a:endParaRPr lang="en-US" sz="950" dirty="0"/>
          </a:p>
        </p:txBody>
      </p:sp>
      <p:sp>
        <p:nvSpPr>
          <p:cNvPr id="28" name="Shape 20"/>
          <p:cNvSpPr/>
          <p:nvPr/>
        </p:nvSpPr>
        <p:spPr>
          <a:xfrm>
            <a:off x="6739128" y="146304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2DA44E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48856" y="1554480"/>
            <a:ext cx="274320" cy="27432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7196328" y="146304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suc02-web01</a:t>
            </a:r>
            <a:endParaRPr lang="en-US" sz="1200" dirty="0"/>
          </a:p>
        </p:txBody>
      </p:sp>
      <p:sp>
        <p:nvSpPr>
          <p:cNvPr id="31" name="Shape 22"/>
          <p:cNvSpPr/>
          <p:nvPr/>
        </p:nvSpPr>
        <p:spPr>
          <a:xfrm>
            <a:off x="6739128" y="201168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2DA44E"/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48856" y="2103120"/>
            <a:ext cx="274320" cy="27432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196328" y="201168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suc02-app01</a:t>
            </a:r>
            <a:endParaRPr lang="en-US" sz="1200" dirty="0"/>
          </a:p>
        </p:txBody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2512" y="1691640"/>
            <a:ext cx="201168" cy="201168"/>
          </a:xfrm>
          <a:prstGeom prst="rect">
            <a:avLst/>
          </a:prstGeom>
        </p:spPr>
      </p:pic>
      <p:sp>
        <p:nvSpPr>
          <p:cNvPr id="35" name="Shape 24"/>
          <p:cNvSpPr/>
          <p:nvPr/>
        </p:nvSpPr>
        <p:spPr>
          <a:xfrm>
            <a:off x="4251960" y="2697480"/>
            <a:ext cx="4434840" cy="1920240"/>
          </a:xfrm>
          <a:prstGeom prst="roundRect">
            <a:avLst>
              <a:gd name="adj" fmla="val 2857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36" name="Shape 25"/>
          <p:cNvSpPr/>
          <p:nvPr/>
        </p:nvSpPr>
        <p:spPr>
          <a:xfrm>
            <a:off x="4251960" y="2916936"/>
            <a:ext cx="4434840" cy="9144"/>
          </a:xfrm>
          <a:prstGeom prst="rect">
            <a:avLst/>
          </a:prstGeom>
          <a:solidFill>
            <a:srgbClr val="21262D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37" name="Shape 26"/>
          <p:cNvSpPr/>
          <p:nvPr/>
        </p:nvSpPr>
        <p:spPr>
          <a:xfrm>
            <a:off x="4361688" y="2770632"/>
            <a:ext cx="82296" cy="822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38" name="Shape 27"/>
          <p:cNvSpPr/>
          <p:nvPr/>
        </p:nvSpPr>
        <p:spPr>
          <a:xfrm>
            <a:off x="4498848" y="2770632"/>
            <a:ext cx="82296" cy="822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39" name="Shape 28"/>
          <p:cNvSpPr/>
          <p:nvPr/>
        </p:nvSpPr>
        <p:spPr>
          <a:xfrm>
            <a:off x="4636008" y="2770632"/>
            <a:ext cx="82296" cy="822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40" name="Text 29"/>
          <p:cNvSpPr txBox="1"/>
          <p:nvPr/>
        </p:nvSpPr>
        <p:spPr>
          <a:xfrm>
            <a:off x="4800600" y="2724912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docker-lab · GitHub Actions run 37832592874</a:t>
            </a:r>
            <a:endParaRPr lang="en-US" sz="900" dirty="0"/>
          </a:p>
        </p:txBody>
      </p:sp>
      <p:sp>
        <p:nvSpPr>
          <p:cNvPr id="41" name="Text 30"/>
          <p:cNvSpPr txBox="1"/>
          <p:nvPr/>
        </p:nvSpPr>
        <p:spPr>
          <a:xfrm>
            <a:off x="4389120" y="3008376"/>
            <a:ext cx="416052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 4 contenedores estan healthy.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status=200  status=200  status=200  status=200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OK: conectividad interna confirmada en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ambas sucursales.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OK: suc01-web01 NO pudo alcanzar suc02-web01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(aislamiento confirmado, exit=1)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49E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3317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Karen Quispe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063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State, Drift y pruebas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886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⏱ 3 min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0" y="1143000"/>
            <a:ext cx="3017520" cy="2286000"/>
          </a:xfrm>
          <a:prstGeom prst="roundRect">
            <a:avLst>
              <a:gd name="adj" fmla="val 3200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89788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expone: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897880" y="1691640"/>
            <a:ext cx="2606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Terraform State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Detección de drift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Plan de pruebas CP01-CP16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Resultados y conclusiones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9A6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05 </a:t>
            </a:r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 STATE</a:t>
            </a:r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Karen Quispe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3891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El state: el inventario de lo que Terraform creó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FF5E6"/>
          </a:solidFill>
          <a:ln w="15875">
            <a:solidFill>
              <a:srgbClr val="B86E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98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</a:rPr>
              <a:t>AWS  </a:t>
            </a:r>
            <a:pPr indent="0" marL="0">
              <a:buNone/>
            </a:pPr>
            <a:r>
              <a:rPr lang="en-US" sz="1100" dirty="0">
                <a:solidFill>
                  <a:srgbClr val="B86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diseño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8308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</a:rPr>
              <a:t>Backend S3 por entorno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</a:rPr>
              <a:t>Versionado + cifrado KMS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</a:rPr>
              <a:t>Bloqueo: DynamoDB o use_lockfile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</a:rPr>
              <a:t>IAM acotado al prefijo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73552" y="118872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EDF3FE"/>
          </a:solidFill>
          <a:ln w="15875">
            <a:solidFill>
              <a:srgbClr val="1A5F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298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</a:rPr>
              <a:t>GCP  </a:t>
            </a:r>
            <a:pPr indent="0" marL="0">
              <a:buNone/>
            </a:pPr>
            <a:r>
              <a:rPr lang="en-US" sz="1100" dirty="0">
                <a:solidFill>
                  <a:srgbClr val="1A5F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diseño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8308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</a:rPr>
              <a:t>Backend GCS por entorno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</a:rPr>
              <a:t>Object Versioning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</a:rPr>
              <a:t>Bloqueo nativo de GCS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</a:rPr>
              <a:t>Cuenta de servicio acotada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9904" y="118872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E9F6EE"/>
          </a:solidFill>
          <a:ln w="15875">
            <a:solidFill>
              <a:srgbClr val="2DA44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72784" y="1298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</a:rPr>
              <a:t>Local  </a:t>
            </a:r>
            <a:pPr indent="0" marL="0">
              <a:buNone/>
            </a:pPr>
            <a:r>
              <a:rPr lang="en-US" sz="1100" dirty="0">
                <a:solidFill>
                  <a:srgbClr val="2DA4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ejecutado ✓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272784" y="178308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</a:rPr>
              <a:t>Backend local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</a:rPr>
              <a:t>init → apply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</a:rPr>
              <a:t>state list / show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</a:rPr>
              <a:t>plan → apply → destroy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0E1116"/>
          </a:solidFill>
          <a:ln w="12700">
            <a:solidFill>
              <a:srgbClr val="0E1116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114800"/>
            <a:ext cx="274320" cy="2743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051560" y="38862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</a:rPr>
              <a:t>El state guarda datos sensibles en texto plano: nunca se sube a Git y leerlo es como leer secretos.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49E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9A6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05 </a:t>
            </a:r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INFRASTRUCTURE DRIFT</a:t>
            </a:r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Karen Quispe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3891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Alguien cambia algo a mano: Terraform lo detecta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0E1116"/>
          </a:solidFill>
          <a:ln w="12700">
            <a:solidFill>
              <a:srgbClr val="0E11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152144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apply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</a:rPr>
              <a:t>crea el archivo gestionado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1664208"/>
            <a:ext cx="914" cy="192024"/>
          </a:xfrm>
          <a:prstGeom prst="line">
            <a:avLst/>
          </a:prstGeom>
          <a:noFill/>
          <a:ln w="19050">
            <a:solidFill>
              <a:srgbClr val="D0D7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874520"/>
            <a:ext cx="457200" cy="457200"/>
          </a:xfrm>
          <a:prstGeom prst="ellipse">
            <a:avLst/>
          </a:prstGeom>
          <a:solidFill>
            <a:srgbClr val="D0102B"/>
          </a:solidFill>
          <a:ln w="12700">
            <a:solidFill>
              <a:srgbClr val="D010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837944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1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cambio manual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</a:rPr>
              <a:t>max_connections 100 → 9999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2350008"/>
            <a:ext cx="914" cy="192024"/>
          </a:xfrm>
          <a:prstGeom prst="line">
            <a:avLst/>
          </a:prstGeom>
          <a:noFill/>
          <a:ln w="19050">
            <a:solidFill>
              <a:srgbClr val="D0D7D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560320"/>
            <a:ext cx="457200" cy="457200"/>
          </a:xfrm>
          <a:prstGeom prst="ellipse">
            <a:avLst/>
          </a:prstGeom>
          <a:solidFill>
            <a:srgbClr val="0E1116"/>
          </a:solidFill>
          <a:ln w="12700">
            <a:solidFill>
              <a:srgbClr val="0E111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523744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</a:rPr>
              <a:t>detecta la diferencia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85800" y="3035808"/>
            <a:ext cx="914" cy="192024"/>
          </a:xfrm>
          <a:prstGeom prst="line">
            <a:avLst/>
          </a:prstGeom>
          <a:noFill/>
          <a:ln w="19050">
            <a:solidFill>
              <a:srgbClr val="D0D7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3246120"/>
            <a:ext cx="457200" cy="457200"/>
          </a:xfrm>
          <a:prstGeom prst="ellipse">
            <a:avLst/>
          </a:prstGeom>
          <a:solidFill>
            <a:srgbClr val="0E1116"/>
          </a:solidFill>
          <a:ln w="12700">
            <a:solidFill>
              <a:srgbClr val="0E111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209544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decidir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</a:rPr>
              <a:t>conservar o revertir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85800" y="3721608"/>
            <a:ext cx="914" cy="192024"/>
          </a:xfrm>
          <a:prstGeom prst="line">
            <a:avLst/>
          </a:prstGeom>
          <a:noFill/>
          <a:ln w="19050">
            <a:solidFill>
              <a:srgbClr val="D0D7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3931920"/>
            <a:ext cx="457200" cy="457200"/>
          </a:xfrm>
          <a:prstGeom prst="ellipse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895344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A4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apply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</a:rPr>
              <a:t>vuelve a lo declarado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023360" y="1143000"/>
            <a:ext cx="4663440" cy="3520440"/>
          </a:xfrm>
          <a:prstGeom prst="roundRect">
            <a:avLst>
              <a:gd name="adj" fmla="val 1558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23360" y="1362456"/>
            <a:ext cx="4663440" cy="9144"/>
          </a:xfrm>
          <a:prstGeom prst="rect">
            <a:avLst/>
          </a:prstGeom>
          <a:solidFill>
            <a:srgbClr val="21262D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3088" y="1216152"/>
            <a:ext cx="82296" cy="822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70248" y="1216152"/>
            <a:ext cx="82296" cy="822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07408" y="1216152"/>
            <a:ext cx="82296" cy="822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72000" y="1170432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lab/drift · run_drift_demo.ps1  (extracto real)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160520" y="1453896"/>
            <a:ext cx="4389120" cy="3136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 5. Modificacion manual fuera de Terraform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F7B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max_connections=9999  # cambiado a mano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 6. terraform plan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local_file.server_config will be created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Plan: 1 to add, 0 to change, 0 to destroy.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 8. Decision: reconciliar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Apply complete! Resources: 1 added,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changed, 0 destroyed.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 9. Verificacion final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max_connections=100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49E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9A6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05 </a:t>
            </a:r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RESULTADOS</a:t>
            </a:r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Karen Quispe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3891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Todo lo prometido, probado con evidencia real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1615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A44E"/>
                </a:solidFill>
              </a:rPr>
              <a:t>16/16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6916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casos de prueba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60320" y="11430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21615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A44E"/>
                </a:solidFill>
              </a:rPr>
              <a:t>27/27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606040" y="16916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terraform test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11430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63440" y="121615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102B"/>
                </a:solidFill>
              </a:rPr>
              <a:t>50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16916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sucursales validadas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766560" y="11430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66560" y="121615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102B"/>
                </a:solidFill>
              </a:rPr>
              <a:t>0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812280" y="16916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secretos en el repo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331720"/>
            <a:ext cx="4206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F2328"/>
                </a:solidFill>
              </a:rPr>
              <a:t>Escalable: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F2328"/>
                </a:solidFill>
              </a:rPr>
              <a:t>la sucursal 51 es un cambio de datos, no de código.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F2328"/>
                </a:solidFill>
              </a:rPr>
              <a:t>Pruebas útiles sin nube: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F2328"/>
                </a:solidFill>
              </a:rPr>
              <a:t>mock_provider halló un error real.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F2328"/>
                </a:solidFill>
              </a:rPr>
              <a:t>Honesto: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F2328"/>
                </a:solidFill>
              </a:rPr>
              <a:t>lo ejecutado se separa del diseño empresarial.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F2328"/>
                </a:solidFill>
              </a:rPr>
              <a:t>Límite: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F2328"/>
                </a:solidFill>
              </a:rPr>
              <a:t>no se probó contra las APIs reales de AWS y GCP.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892040" y="2331720"/>
            <a:ext cx="3794760" cy="1965960"/>
          </a:xfrm>
          <a:prstGeom prst="roundRect">
            <a:avLst>
              <a:gd name="adj" fmla="val 2791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92040" y="2551176"/>
            <a:ext cx="3794760" cy="9144"/>
          </a:xfrm>
          <a:prstGeom prst="rect">
            <a:avLst/>
          </a:prstGeom>
          <a:solidFill>
            <a:srgbClr val="21262D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1768" y="2404872"/>
            <a:ext cx="82296" cy="822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38928" y="2404872"/>
            <a:ext cx="82296" cy="822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276088" y="2404872"/>
            <a:ext cx="82296" cy="822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40680" y="2359152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validate.ps1  (extracto real)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0" y="2642616"/>
            <a:ext cx="352044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validate - production (40) ===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Success! The configuration is valid.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validate - staging (6) ===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Success! The configuration is valid.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validate - development (4) ===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Success! The configuration is valid.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Sucursales analizadas: 50  AWS: 25 GCP: 25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49E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34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 plan</a:t>
            </a:r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No changes.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6002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Gracias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8B949E"/>
                </a:solidFill>
              </a:rPr>
              <a:t>¿Preguntas?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69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github.com/ThiagoIcochea/ServiciosCloudIAC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Icochea · Gonzales · Huamani · Remuzgo · Quispe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5029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50/50 sucursales validadas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760720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48756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36792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24828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12864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00900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88936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6972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65008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53044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60720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48756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36792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24828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912864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00900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88936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6972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65008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353044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60720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048756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336792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24828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912864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200900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88936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6972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65008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53044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760720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048756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36792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24828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912864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200900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88936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776972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65008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53044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760720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048756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336792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624828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912864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200900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488936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776972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065008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353044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760720" y="2514600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760720" y="258775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FB950"/>
                </a:solidFill>
              </a:rPr>
              <a:t>16/16</a:t>
            </a:r>
            <a:endParaRPr lang="en-US" sz="2600" dirty="0"/>
          </a:p>
        </p:txBody>
      </p:sp>
      <p:sp>
        <p:nvSpPr>
          <p:cNvPr id="59" name="Text 57"/>
          <p:cNvSpPr txBox="1"/>
          <p:nvPr/>
        </p:nvSpPr>
        <p:spPr>
          <a:xfrm>
            <a:off x="5806440" y="30632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49E"/>
                </a:solidFill>
              </a:rPr>
              <a:t>casos de prueba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7251192" y="2514600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251192" y="258775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FB950"/>
                </a:solidFill>
              </a:rPr>
              <a:t>27/27</a:t>
            </a:r>
            <a:endParaRPr lang="en-US" sz="2600" dirty="0"/>
          </a:p>
        </p:txBody>
      </p:sp>
      <p:sp>
        <p:nvSpPr>
          <p:cNvPr id="62" name="Text 60"/>
          <p:cNvSpPr txBox="1"/>
          <p:nvPr/>
        </p:nvSpPr>
        <p:spPr>
          <a:xfrm>
            <a:off x="7296912" y="30632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49E"/>
                </a:solidFill>
              </a:rPr>
              <a:t>pruebas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5760720" y="3566160"/>
            <a:ext cx="2862072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760720" y="3639312"/>
            <a:ext cx="2862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6EDF3"/>
                </a:solidFill>
              </a:rPr>
              <a:t>5 frentes</a:t>
            </a:r>
            <a:endParaRPr lang="en-US" sz="2600" dirty="0"/>
          </a:p>
        </p:txBody>
      </p:sp>
      <p:sp>
        <p:nvSpPr>
          <p:cNvPr id="65" name="Text 63"/>
          <p:cNvSpPr txBox="1"/>
          <p:nvPr/>
        </p:nvSpPr>
        <p:spPr>
          <a:xfrm>
            <a:off x="5806440" y="4114800"/>
            <a:ext cx="2770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49E"/>
                </a:solidFill>
              </a:rPr>
              <a:t>5 integrantes, 3 min c/u</a:t>
            </a:r>
            <a:endParaRPr lang="en-US" sz="1050" dirty="0"/>
          </a:p>
        </p:txBody>
      </p:sp>
      <p:sp>
        <p:nvSpPr>
          <p:cNvPr id="67" name="Text 0"/>
          <p:cNvSpPr/>
          <p:nvPr>
            <p:ph idx="101" type="body" hasCustomPrompt="1"/>
          </p:nvPr>
        </p:nvSpPr>
        <p:spPr>
          <a:xfrm>
            <a:off x="548640" y="30632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TP IaC Terminal">
  <a:themeElements>
    <a:clrScheme name="UTP IaC Terminal">
      <a:dk1>
        <a:srgbClr val="0E1116"/>
      </a:dk1>
      <a:lt1>
        <a:srgbClr val="FFFFFF"/>
      </a:lt1>
      <a:dk2>
        <a:srgbClr val="161B22"/>
      </a:dk2>
      <a:lt2>
        <a:srgbClr val="F2F3F5"/>
      </a:lt2>
      <a:accent1>
        <a:srgbClr val="D0102B"/>
      </a:accent1>
      <a:accent2>
        <a:srgbClr val="FF9900"/>
      </a:accent2>
      <a:accent3>
        <a:srgbClr val="4285F4"/>
      </a:accent3>
      <a:accent4>
        <a:srgbClr val="2DA44E"/>
      </a:accent4>
      <a:accent5>
        <a:srgbClr val="6E7681"/>
      </a:accent5>
      <a:accent6>
        <a:srgbClr val="D29922"/>
      </a:accent6>
      <a:hlink>
        <a:srgbClr val="D0102B"/>
      </a:hlink>
      <a:folHlink>
        <a:srgbClr val="8C0A1C"/>
      </a:folHlink>
    </a:clrScheme>
    <a:fontScheme name="UTP IaC Termina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IaC multi-cloud para 50 sucursales</dc:title>
  <dc:subject>PptxGenJS Presentation</dc:subject>
  <dc:creator>Grupo Servicios Cloud - UTP</dc:creator>
  <cp:lastModifiedBy>Grupo Servicios Cloud - UTP</cp:lastModifiedBy>
  <cp:revision>1</cp:revision>
  <dcterms:created xsi:type="dcterms:W3CDTF">2026-10-16T22:12:04Z</dcterms:created>
  <dcterms:modified xsi:type="dcterms:W3CDTF">2026-10-16T22:12:04Z</dcterms:modified>
</cp:coreProperties>
</file>