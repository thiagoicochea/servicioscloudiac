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dd89e060-63c8-9cfa-fdd7-a09543a9eea4}">
          <p14:sldIdLst>
            <p14:sldId id="256"/>
            <p14:sldId id="257"/>
          </p14:sldIdLst>
        </p14:section>
        <p14:section name="01 Arquitectura" id="{94266cca-a300-6ddd-e41f-775b9162dc4b}">
          <p14:sldIdLst>
            <p14:sldId id="258"/>
            <p14:sldId id="259"/>
            <p14:sldId id="260"/>
          </p14:sldIdLst>
        </p14:section>
        <p14:section name="02 AWS" id="{f47cbde3-416c-2ab8-5720-c3b912a054c8}">
          <p14:sldIdLst>
            <p14:sldId id="261"/>
            <p14:sldId id="262"/>
            <p14:sldId id="263"/>
          </p14:sldIdLst>
        </p14:section>
        <p14:section name="03 GCP" id="{4fcb2b68-5f99-5d9c-fe3a-086c53c692cc}">
          <p14:sldIdLst>
            <p14:sldId id="264"/>
            <p14:sldId id="265"/>
            <p14:sldId id="266"/>
          </p14:sldIdLst>
        </p14:section>
        <p14:section name="04 CI/CD" id="{d68e05cb-bf76-5bbc-f6a4-c3f377054c17}">
          <p14:sldIdLst>
            <p14:sldId id="267"/>
            <p14:sldId id="268"/>
            <p14:sldId id="269"/>
          </p14:sldIdLst>
        </p14:section>
        <p14:section name="05 State y Drift" id="{f3a646b1-b5b6-297b-1bcc-cf52f1dbabbe}">
          <p14:sldIdLst>
            <p14:sldId id="270"/>
            <p14:sldId id="271"/>
            <p14:sldId id="272"/>
            <p14:sldId id="273"/>
            <p14:sldId id="274"/>
          </p14:sldIdLst>
        </p14:section>
        <p14:section name="Anexos" id="{74145b75-eadc-5de2-9990-5b69c7fd73d7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THIAGO (≈20 s): Buenos días. Somos el grupo de Servicios Cloud y vamos a presentar nuestro proyecto de Infraestructura como Código con Terraform para administrar 50 sucursales en AWS y Google Cloud. Los cuadros de la derecha son las 50 sucursales: naranjas en AWS y azules en GCP. Cada integrante expondrá la parte que desarrolló.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THIAGO (≈30 s): El trabajo se dividió en cinco frentes, uno por integrante; cada uno diseñó, programó, probó y documentó su parte. Yo coordiné y diseñé la arquitectura; Carlos hizo AWS; Eddyson, GCP; Huber, el pipeline y la seguridad; y Karen, el estado, el drift y el plan de pruebas. El detalle está en la sección 17 del informe y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THIAGO: (transición, 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THIAGO (≈1 min): Configurar 50 sucursales a mano genera errores, como los cuadros rojos, no deja auditar y no permite detectar cambios manuales. Nuestra solución tiene un solo archivo de datos, ocho módulos reutilizables y un orquestador; con eso salen 50 sucursales idénticas. Además, cada cambio se valida automáticamente con pruebas antes de aplicarse.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THIAGO (≈1 min 30 s): A la izquierda está branches.yaml, el archivo de datos: dice qué sucursales hay, en qué proveedor y en qué entorno. Lo genera un script de Python. En el centro está branch-stack, el orquestador: lee el YAML, filtra por entorno y proveedor, y con for_each aplica los cuatro módulos de AWS o los cuatro de GCP a cada sucursal. Hay tres entornos con su propio state: 40 sucursales en producción, 6 en staging y 4 en desarrollo. Agregar la sucursal 51 es solo añadir una entrada al YAML; lo probamos en CP15 y ningún archivo .tf cambió. Ahora Carlos con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CARLOS: (transición, 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CARLOS (≈1 min 30 s): Me encargué de los cuatro módulos de AWS. Cada sucursal tiene su propia VPC, con una subnet, un Internet Gateway y una tabla de rutas que manda el tráfico a Internet. El Security Group es el guardia: deja pasar HTTP y HTTPS y SSH solo desde la red interna. Hay dos servidores EC2, web y app, y CloudWatch con una alarma de CPU por servidor. Elegimos una VPC por sucursal para aislarlas de verdad. En total: 25 VPC, 50 instancias, 75 reglas y 50 alarmas.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CARLOS (≈1 min 20 s): Probé los módulos con terraform test y mock_provider, que simula AWS para probar en segundos. En la primera corrida falló: yo accedía a route[0] en la tabla de rutas, pero route es un conjunto y no tiene índice. Lo corregí con anytrue, que busca dentro del conjunto la ruta 0.0.0.0/0. A la derecha está la salida real: todas las suites de AWS pasan. Lo importante es que el error se encontró antes de aplicar cualquier cambio. Ahora Eddyson con GCP.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EDDYSON: (transición, 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EDDYSON (≈1 min 30 s): Yo desarrollé los cuatro módulos de Google Cloud. La red es una VPC en modo personalizado, para que GCP no cree subnets en todas las regiones; tiene una subnet regional y sale a Internet con Cloud Router y Cloud NAT. Como GCP no tiene Security Groups, cada regla es un firewall independiente. Hay dos máquinas virtuales, web y app, y una alerta de Cloud Monitoring cuando la CPU pasa del 80%. Son 25 redes, 50 VM, 75 reglas y 25 alertas, una por sucursal.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EDDYSON (≈1 min 20 s): Los módulos de AWS y GCP reciben los mismos campos lógicos del YAML, pero no forzamos una abstracción falsa: respetamos las diferencias. En GCP no hay contenedor de reglas, la salida es con NAT y la región va en cada recurso. Probé todo con mock_provider google; a la derecha está la salida real, incluidas las pruebas que rechazan datos inválidos. Además, TFLint encontró cuatro advertencias en mis módulos en el primer run del pipeline y las corregí. Le paso la palabra a Huber.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HUBER: (transición, 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HUBER (≈1 min 30 s): Implementé el pipeline en GitHub Actions. Es uno solo para AWS y GCP porque conviven en el mismo branch-stack. En cada cambio corre: formato, validate en los tres entornos, el esquema de las 50 sucursales, las 27 pruebas, TFLint, y en seguridad Checkov y gitleaks. Para aprobar un cambio se trabaja en una rama, se abre un Pull Request, las validaciones deben pasar y un revisor confirma el checklist. Para el despliegue, la autenticación es con OIDC, sin claves guardadas, y el apply requiere aprobación manual en un GitHub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HUBER (≈1 min 20 s): En seguridad, el .gitignore excluye estados y claves, gitleaks revisa todo el historial y una verificación adicional hace fallar el pipeline si alguien sube un state o una clave. El diseño de IAM es de mínimo privilegio. También hice el laboratorio Docker con dos sucursales y cuatro contenedores. Como el equipo local no tenía Docker, lo corrí en GitHub Actions; abajo está la salida real: los cuatro contenedores sanos, HTTP 200, conectividad dentro de cada sucursal y ninguna conexión entre sucursales. Ahora Karen.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KAREN: (transición, 5 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KAREN (≈1 min): El state es el inventario de lo que Terraform creó. Usamos backends remotos por entorno: S3 con versionado, cifrado y bloqueo en AWS, y GCS con versionado y bloqueo nativo en GCP, con permisos mínimos. Además, el laboratorio local muestra todo el ciclo: init, apply, consultar con state list y show, modificar, planificar y destruir (CP12). Y algo clave: el state guarda datos sensibles, por eso nunca se sube a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KAREN (≈50 s): Para el drift usamos un archivo local gestionado por Terraform. Lo creamos y luego lo cambiamos a mano, max_connections de 100 a 9999, como si alguien tocara producción por consola. terraform plan detectó la diferencia; decidimos revertir y un apply devolvió el valor a 100. A la derecha está la salida real del laboratorio. Ojo: refresh-only solo actualiza el inventario, no corrige nada. El mismo flujo corre en GitHub Actions (CP13 y CP14).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KAREN (≈1 min): Elaboré el plan de pruebas y reuní las evidencias. Los 16 casos se ejecutaron y aprobaron, las 27 pruebas pasaron, se validaron las 50 sucursales y no hay secretos en el repositorio. A la derecha, la salida real de validate en los tres entornos. Concluimos que la solución escala, que las pruebas automatizadas encontraron errores reales a tiempo, que es segura y que es fácil de mantener.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grupo responde preguntas. Cada integrante responde sobre su propio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apoyo para explicar la terminología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apoyo para la ronda de preguntas. Cada integrante responde las de su frente.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937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49377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4754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47548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Servicios Cloud · UTP · IaC 50 sucursales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830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tmp/claude-0/-home-claude/01c0e5a6-0dc4-54dc-9bf7-5ed18b053e74/scratchpad/img/logo-ut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466344"/>
            <a:ext cx="1600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test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27 pruebas automatizadas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600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Infraestructura como Código multi-cloud para 50 sucursales</a:t>
            </a:r>
            <a:endParaRPr lang="en-US" sz="3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Terraform · AWS · Google Cloud · GitHub Actions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Curso Servicios Cloud · Docente: Eleodoro Orbegoso Carrera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Icochea · Gonzales · Huamani · Remuzgo · Quispe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502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branches.yaml → 50 sucursales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48756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6792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4828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12864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00900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88936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6972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53044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0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48756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36792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24828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12864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00900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88936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76972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65008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53044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760720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48756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36792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24828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12864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00900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88936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76972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65008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53044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760720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48756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36792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624828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912864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00900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488936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776972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065008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353044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760720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048756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36792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624828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912864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200900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488936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6972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065008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353044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760720" y="22585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AWS   </a:t>
            </a:r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GCP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760720" y="2651760"/>
            <a:ext cx="2862072" cy="1417320"/>
          </a:xfrm>
          <a:prstGeom prst="roundRect">
            <a:avLst>
              <a:gd name="adj" fmla="val 387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760720" y="2871216"/>
            <a:ext cx="2862072" cy="91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870448" y="272491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007608" y="272491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144768" y="272491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309360" y="2679192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test</a:t>
            </a:r>
            <a:endParaRPr lang="en-US" sz="900" dirty="0"/>
          </a:p>
        </p:txBody>
      </p:sp>
      <p:sp>
        <p:nvSpPr>
          <p:cNvPr id="66" name="Text 63"/>
          <p:cNvSpPr txBox="1"/>
          <p:nvPr/>
        </p:nvSpPr>
        <p:spPr>
          <a:xfrm>
            <a:off x="5897880" y="2962656"/>
            <a:ext cx="25877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aws_network.tftest.hcl...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branch_stack.tftest.hcl...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gcp_security.tftest.hcl...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Success! 27 passed, 0 failed.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00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repartición de tareas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Cinco frentes, un responsable por frente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Thiago Icochea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102B"/>
                </a:solidFill>
              </a:rPr>
              <a:t>Arquitectura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branch-stack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branches.yaml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entornos y repo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0552" y="118872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67712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Carlos Gonzales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67712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</a:rPr>
              <a:t>AWS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67712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módulos aws/*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pruebas AWS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fix CP02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67712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03904" y="118872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41064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3941064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Eddyson Huamani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41064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</a:rPr>
              <a:t>GCP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941064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módulos gcp/*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pruebas GCP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fix TFLint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41064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77256" y="118872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14416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5614416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Huber Remuzgo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14416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A44E"/>
                </a:solidFill>
              </a:rPr>
              <a:t>CI/CD y seguridad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14416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GitHub Actions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Checkov, gitleaks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lab Docker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14416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0608" y="1188720"/>
            <a:ext cx="1517904" cy="3429000"/>
          </a:xfrm>
          <a:prstGeom prst="roundRect">
            <a:avLst>
              <a:gd name="adj" fmla="val 481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87768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7287768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Karen Quispe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87768" y="2377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6B00"/>
                </a:solidFill>
              </a:rPr>
              <a:t>State, Drift, pruebas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287768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lab State y Drift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plan CP01-CP16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7606A"/>
                </a:solidFill>
              </a:rPr>
              <a:t>evidencias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87768" y="4224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Thiago Icochea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Coordinador y arquitecto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14300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expone: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91640"/>
            <a:ext cx="2606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El problema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Datos vs. moldes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branches.yaml → branch-stack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Entornos 40 / 6 / 4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PROBLEMA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Thiago Icochea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 50 configuraciones a mano a un solo patrón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7606A"/>
                </a:solidFill>
              </a:rPr>
              <a:t>Sin IaC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D0102B"/>
          </a:solidFill>
          <a:ln w="12700">
            <a:solidFill>
              <a:srgbClr val="D010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73736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0604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D0102B"/>
          </a:solidFill>
          <a:ln w="12700">
            <a:solidFill>
              <a:srgbClr val="D010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205740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588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D0102B"/>
          </a:solidFill>
          <a:ln w="12700">
            <a:solidFill>
              <a:srgbClr val="D010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96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237744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588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4592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6596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D0102B"/>
          </a:solidFill>
          <a:ln w="12700">
            <a:solidFill>
              <a:srgbClr val="D010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0604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4612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66160" y="269748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584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2588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4592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D0102B"/>
          </a:solidFill>
          <a:ln w="12700">
            <a:solidFill>
              <a:srgbClr val="D010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6596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604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4612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3017520"/>
            <a:ext cx="246888" cy="246888"/>
          </a:xfrm>
          <a:prstGeom prst="roundRect">
            <a:avLst>
              <a:gd name="adj" fmla="val 11111"/>
            </a:avLst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5800" y="33832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</a:rPr>
              <a:t>Cada sucursal configurada a mano: errores (en rojo), sin auditoría y sin forma de detectar cambios manuales.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54880" y="118872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5875">
            <a:solidFill>
              <a:srgbClr val="D0102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98348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0102B"/>
                </a:solidFill>
              </a:rPr>
              <a:t>Con IaC (nuestra solución)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4983480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0" name="Text 58"/>
          <p:cNvSpPr txBox="1"/>
          <p:nvPr/>
        </p:nvSpPr>
        <p:spPr>
          <a:xfrm>
            <a:off x="5715000" y="17373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archivo de datos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branches.yaml</a:t>
            </a:r>
            <a:endParaRPr lang="en-US" sz="1250" dirty="0"/>
          </a:p>
        </p:txBody>
      </p:sp>
      <p:sp>
        <p:nvSpPr>
          <p:cNvPr id="61" name="Text 59"/>
          <p:cNvSpPr txBox="1"/>
          <p:nvPr/>
        </p:nvSpPr>
        <p:spPr>
          <a:xfrm>
            <a:off x="4983480" y="22860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400" dirty="0"/>
          </a:p>
        </p:txBody>
      </p:sp>
      <p:sp>
        <p:nvSpPr>
          <p:cNvPr id="62" name="Text 60"/>
          <p:cNvSpPr txBox="1"/>
          <p:nvPr/>
        </p:nvSpPr>
        <p:spPr>
          <a:xfrm>
            <a:off x="5715000" y="22860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módulos reutilizables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aws/* + gcp/*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4983480" y="28346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4" name="Text 62"/>
          <p:cNvSpPr txBox="1"/>
          <p:nvPr/>
        </p:nvSpPr>
        <p:spPr>
          <a:xfrm>
            <a:off x="5715000" y="28346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orquestador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branch-stack</a:t>
            </a:r>
            <a:endParaRPr lang="en-US" sz="1250" dirty="0"/>
          </a:p>
        </p:txBody>
      </p:sp>
      <p:sp>
        <p:nvSpPr>
          <p:cNvPr id="65" name="Text 63"/>
          <p:cNvSpPr txBox="1"/>
          <p:nvPr/>
        </p:nvSpPr>
        <p:spPr>
          <a:xfrm>
            <a:off x="4983480" y="33832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2400" dirty="0"/>
          </a:p>
        </p:txBody>
      </p:sp>
      <p:sp>
        <p:nvSpPr>
          <p:cNvPr id="66" name="Text 64"/>
          <p:cNvSpPr txBox="1"/>
          <p:nvPr/>
        </p:nvSpPr>
        <p:spPr>
          <a:xfrm>
            <a:off x="5715000" y="3383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sucursales idénticas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102B"/>
                </a:solidFill>
              </a:rPr>
              <a:t>Clave: </a:t>
            </a:r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</a:rPr>
              <a:t>un archivo de datos + 8 módulos; cada cambio se valida automáticamente antes de aplicarse.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ARQUITECTURA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Thiago Icochea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Los datos dicen qué; los moldes dicen cómo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43200" cy="347472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62456"/>
            <a:ext cx="2743200" cy="91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161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2161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2161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170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branches.yaml (resumido)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453896"/>
            <a:ext cx="24688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sucursales: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"suc-001"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provider: "aws"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"production"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network: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cidr_block: "10.10.1.0/24"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servers: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role: "web"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role: "app"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security_rules:  # 80, 443, 22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"suc-002"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provider: "gcp"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50 sucursales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2103120"/>
            <a:ext cx="365760" cy="914"/>
          </a:xfrm>
          <a:prstGeom prst="line">
            <a:avLst/>
          </a:prstGeom>
          <a:noFill/>
          <a:ln w="19050">
            <a:solidFill>
              <a:srgbClr val="D010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146304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9050">
            <a:solidFill>
              <a:srgbClr val="D0102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600200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160520" y="1581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branch-stack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794760" y="2011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local.aws_branches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0" y="3017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entornos (state propio c/u)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0" y="3291840"/>
            <a:ext cx="2103120" cy="356616"/>
          </a:xfrm>
          <a:prstGeom prst="roundRect">
            <a:avLst>
              <a:gd name="adj" fmla="val 2051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67328" y="3291840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3291840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0102B"/>
                </a:solidFill>
              </a:rPr>
              <a:t>40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0" y="3721608"/>
            <a:ext cx="2103120" cy="356616"/>
          </a:xfrm>
          <a:prstGeom prst="roundRect">
            <a:avLst>
              <a:gd name="adj" fmla="val 2051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767328" y="3721608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3721608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0102B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0" y="4151376"/>
            <a:ext cx="2103120" cy="356616"/>
          </a:xfrm>
          <a:prstGeom prst="roundRect">
            <a:avLst>
              <a:gd name="adj" fmla="val 20513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67328" y="4151376"/>
            <a:ext cx="1371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120640" y="4151376"/>
            <a:ext cx="548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0102B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 flipV="1">
            <a:off x="5806440" y="1600200"/>
            <a:ext cx="365760" cy="22860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806440" y="2423160"/>
            <a:ext cx="365760" cy="548640"/>
          </a:xfrm>
          <a:prstGeom prst="line">
            <a:avLst/>
          </a:prstGeom>
          <a:noFill/>
          <a:ln w="19050">
            <a:solidFill>
              <a:srgbClr val="4285F4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217920" y="114300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5E6"/>
          </a:solidFill>
          <a:ln w="15875">
            <a:solidFill>
              <a:srgbClr val="FF99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55080" y="1234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</a:rPr>
              <a:t>AWS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</a:rPr>
              <a:t>25 sucursales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158191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aws/network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aws/security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aws/compute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aws/monitoring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217920" y="26060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EDF3FE"/>
          </a:solidFill>
          <a:ln w="15875">
            <a:solidFill>
              <a:srgbClr val="4285F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5508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</a:rPr>
              <a:t>GCP  </a:t>
            </a:r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</a:rPr>
              <a:t>25 sucursales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355080" y="304495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gcp/network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gcp/security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gcp/compute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gcp/monitoring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217920" y="4069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7606A"/>
                </a:solidFill>
              </a:rPr>
              <a:t>Sucursal 51 = una entrada más en el YAML, cero archivos .tf (CP15)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Carlos Gonzales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Infraestructura AWS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14300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expone: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91640"/>
            <a:ext cx="2606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Una VPC por sucursal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2 servidores EC2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Security Group y CloudWatch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Pruebas con mock_provider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6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Carlos Gonzales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AWS: cada sucursal vive en su propia VPC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577840" cy="3520440"/>
          </a:xfrm>
          <a:prstGeom prst="roundRect">
            <a:avLst>
              <a:gd name="adj" fmla="val 2078"/>
            </a:avLst>
          </a:prstGeom>
          <a:solidFill>
            <a:srgbClr val="FFF5E6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161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6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  ·  suc-001  ·  10.10.1.0/24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282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53619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Subnet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14600" y="1536192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7282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71800" y="153619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Internet GW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89120" y="1536192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7282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46320" y="1536192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Rutas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194560" y="1865376"/>
            <a:ext cx="320040" cy="914"/>
          </a:xfrm>
          <a:prstGeom prst="line">
            <a:avLst/>
          </a:prstGeom>
          <a:noFill/>
          <a:ln w="19050">
            <a:solidFill>
              <a:srgbClr val="B86E00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069080" y="1865376"/>
            <a:ext cx="320040" cy="914"/>
          </a:xfrm>
          <a:prstGeom prst="line">
            <a:avLst/>
          </a:prstGeom>
          <a:noFill/>
          <a:ln w="19050">
            <a:solidFill>
              <a:srgbClr val="B86E00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40080" y="24688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117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2468880"/>
            <a:ext cx="1024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Security Group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· 443 · 22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514600" y="260604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279806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971800" y="2606040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web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389120" y="260604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2798064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846320" y="260604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app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2194560" y="2935224"/>
            <a:ext cx="320040" cy="914"/>
          </a:xfrm>
          <a:prstGeom prst="line">
            <a:avLst/>
          </a:prstGeom>
          <a:noFill/>
          <a:ln w="19050">
            <a:solidFill>
              <a:srgbClr val="B86E00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3291840" y="3264408"/>
            <a:ext cx="914" cy="484632"/>
          </a:xfrm>
          <a:prstGeom prst="line">
            <a:avLst/>
          </a:prstGeom>
          <a:noFill/>
          <a:ln w="19050">
            <a:solidFill>
              <a:srgbClr val="B86E00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5120640" y="3264408"/>
            <a:ext cx="914" cy="484632"/>
          </a:xfrm>
          <a:prstGeom prst="line">
            <a:avLst/>
          </a:prstGeom>
          <a:noFill/>
          <a:ln w="19050">
            <a:solidFill>
              <a:srgbClr val="B86E00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2514600" y="3767328"/>
            <a:ext cx="3337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FF990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4328" y="3973068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971800" y="3767328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CloudWatch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group + alarma CPU por servidor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263640" y="114300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263640" y="1216152"/>
            <a:ext cx="1143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6E00"/>
                </a:solidFill>
              </a:rPr>
              <a:t>25</a:t>
            </a:r>
            <a:endParaRPr lang="en-US" sz="2600" dirty="0"/>
          </a:p>
        </p:txBody>
      </p:sp>
      <p:sp>
        <p:nvSpPr>
          <p:cNvPr id="34" name="Text 25"/>
          <p:cNvSpPr txBox="1"/>
          <p:nvPr/>
        </p:nvSpPr>
        <p:spPr>
          <a:xfrm>
            <a:off x="6309360" y="1636776"/>
            <a:ext cx="10515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VPC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7543800" y="114300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543800" y="1216152"/>
            <a:ext cx="1143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6E00"/>
                </a:solidFill>
              </a:rPr>
              <a:t>50</a:t>
            </a:r>
            <a:endParaRPr lang="en-US" sz="2600" dirty="0"/>
          </a:p>
        </p:txBody>
      </p:sp>
      <p:sp>
        <p:nvSpPr>
          <p:cNvPr id="37" name="Text 28"/>
          <p:cNvSpPr txBox="1"/>
          <p:nvPr/>
        </p:nvSpPr>
        <p:spPr>
          <a:xfrm>
            <a:off x="7589520" y="1636776"/>
            <a:ext cx="10515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servidores EC2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263640" y="210312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6263640" y="2176272"/>
            <a:ext cx="1143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6E00"/>
                </a:solidFill>
              </a:rPr>
              <a:t>75</a:t>
            </a:r>
            <a:endParaRPr lang="en-US" sz="2600" dirty="0"/>
          </a:p>
        </p:txBody>
      </p:sp>
      <p:sp>
        <p:nvSpPr>
          <p:cNvPr id="40" name="Text 31"/>
          <p:cNvSpPr txBox="1"/>
          <p:nvPr/>
        </p:nvSpPr>
        <p:spPr>
          <a:xfrm>
            <a:off x="6309360" y="2596896"/>
            <a:ext cx="10515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reglas de seguridad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7543800" y="210312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7543800" y="2176272"/>
            <a:ext cx="1143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6E00"/>
                </a:solidFill>
              </a:rPr>
              <a:t>50</a:t>
            </a:r>
            <a:endParaRPr lang="en-US" sz="2600" dirty="0"/>
          </a:p>
        </p:txBody>
      </p:sp>
      <p:sp>
        <p:nvSpPr>
          <p:cNvPr id="43" name="Text 34"/>
          <p:cNvSpPr txBox="1"/>
          <p:nvPr/>
        </p:nvSpPr>
        <p:spPr>
          <a:xfrm>
            <a:off x="7589520" y="2596896"/>
            <a:ext cx="10515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alarmas</a:t>
            </a:r>
            <a:endParaRPr lang="en-US" sz="1050" dirty="0"/>
          </a:p>
        </p:txBody>
      </p:sp>
      <p:sp>
        <p:nvSpPr>
          <p:cNvPr id="44" name="Text 35"/>
          <p:cNvSpPr txBox="1"/>
          <p:nvPr/>
        </p:nvSpPr>
        <p:spPr>
          <a:xfrm>
            <a:off x="6263640" y="31089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</a:rPr>
              <a:t>VPC propia en vez de una compartida: aislamiento real y un error no afecta a otras sucursales.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6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PRUEBAS AWS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Carlos Gonzales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Un error real detectado por las pruebas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0102B"/>
                </a:solidFill>
              </a:rPr>
              <a:t>1ª corrida: falla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1508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aws_route_table.this.route[0]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7606A"/>
                </a:solidFill>
              </a:rPr>
              <a:t>route es un set: no tiene índice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A44E"/>
                </a:solidFill>
              </a:rPr>
              <a:t>Corrección: buscar dentro del set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7432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8803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281635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anytrue([for r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aws_route_table.this.route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r.cidr_block == "0.0.0.0/0"])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886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7606A"/>
                </a:solidFill>
              </a:rPr>
              <a:t>mock_provider "aws" {} simula el proveedor para probar los módulos en segundos.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1143000"/>
            <a:ext cx="3931920" cy="3520440"/>
          </a:xfrm>
          <a:prstGeom prst="roundRect">
            <a:avLst>
              <a:gd name="adj" fmla="val 1558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54880" y="1362456"/>
            <a:ext cx="3931920" cy="91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64608" y="12161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01768" y="12161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38928" y="12161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303520" y="11704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test  (extracto del log)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1453896"/>
            <a:ext cx="36576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aws_compute.tftest.hcl...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aws_monitoring.tftest.hcl...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aws_network.tftest.hcl... in progress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"vpc_usa_el_cidr_declarado"...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"subnet_usa_el_cidr_declarado"...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"ruta_por_defecto_apunta_al_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internet_gateway"...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"rechaza_cidr_invalido"...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aws_network.tftest.hcl...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aws_security.tftest.hcl...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Success! 27 passed, 0 failed.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Eddyson Huamani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Infraestructura GCP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14300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expone: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91640"/>
            <a:ext cx="2606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VPC personalizada + Cloud NAT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Firewall: una regla por recurso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Diferencias con AWS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Pruebas y TFLint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Eddyson Huamani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GCP: red personalizada con salida por Cloud NAT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577840" cy="3520440"/>
          </a:xfrm>
          <a:prstGeom prst="roundRect">
            <a:avLst>
              <a:gd name="adj" fmla="val 2078"/>
            </a:avLst>
          </a:prstGeom>
          <a:solidFill>
            <a:srgbClr val="EDF3FE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161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5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google_compute_network  ·  suc-002  ·  modo personalizado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4285F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282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53619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Subnetwork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14600" y="1536192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4285F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7282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71800" y="1536192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Cloud Router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compute_router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89120" y="1536192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4285F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7282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46320" y="1536192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Cloud NAT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 a Internet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194560" y="1865376"/>
            <a:ext cx="320040" cy="914"/>
          </a:xfrm>
          <a:prstGeom prst="line">
            <a:avLst/>
          </a:prstGeom>
          <a:noFill/>
          <a:ln w="19050">
            <a:solidFill>
              <a:srgbClr val="1A5FD0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069080" y="1865376"/>
            <a:ext cx="320040" cy="914"/>
          </a:xfrm>
          <a:prstGeom prst="line">
            <a:avLst/>
          </a:prstGeom>
          <a:noFill/>
          <a:ln w="19050">
            <a:solidFill>
              <a:srgbClr val="1A5FD0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40080" y="246888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4285F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8117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2468880"/>
            <a:ext cx="1024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Firewall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recurso por regla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2514600" y="260604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4285F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4328" y="279806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971800" y="2606040"/>
            <a:ext cx="1024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web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instance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389120" y="260604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4285F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2798064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846320" y="260604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app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instance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2194560" y="2935224"/>
            <a:ext cx="320040" cy="914"/>
          </a:xfrm>
          <a:prstGeom prst="line">
            <a:avLst/>
          </a:prstGeom>
          <a:noFill/>
          <a:ln w="19050">
            <a:solidFill>
              <a:srgbClr val="1A5FD0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3291840" y="3264408"/>
            <a:ext cx="914" cy="484632"/>
          </a:xfrm>
          <a:prstGeom prst="line">
            <a:avLst/>
          </a:prstGeom>
          <a:noFill/>
          <a:ln w="19050">
            <a:solidFill>
              <a:srgbClr val="1A5FD0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5120640" y="3264408"/>
            <a:ext cx="914" cy="484632"/>
          </a:xfrm>
          <a:prstGeom prst="line">
            <a:avLst/>
          </a:prstGeom>
          <a:noFill/>
          <a:ln w="19050">
            <a:solidFill>
              <a:srgbClr val="1A5FD0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2514600" y="3767328"/>
            <a:ext cx="3337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4285F4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4328" y="3973068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971800" y="3767328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Cloud Monitoring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alerta si CPU &gt; 80%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263640" y="114300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263640" y="1216152"/>
            <a:ext cx="1143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FD0"/>
                </a:solidFill>
              </a:rPr>
              <a:t>25</a:t>
            </a:r>
            <a:endParaRPr lang="en-US" sz="2600" dirty="0"/>
          </a:p>
        </p:txBody>
      </p:sp>
      <p:sp>
        <p:nvSpPr>
          <p:cNvPr id="34" name="Text 25"/>
          <p:cNvSpPr txBox="1"/>
          <p:nvPr/>
        </p:nvSpPr>
        <p:spPr>
          <a:xfrm>
            <a:off x="6309360" y="1636776"/>
            <a:ext cx="10515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redes VPC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7543800" y="114300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543800" y="1216152"/>
            <a:ext cx="1143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FD0"/>
                </a:solidFill>
              </a:rPr>
              <a:t>50</a:t>
            </a:r>
            <a:endParaRPr lang="en-US" sz="2600" dirty="0"/>
          </a:p>
        </p:txBody>
      </p:sp>
      <p:sp>
        <p:nvSpPr>
          <p:cNvPr id="37" name="Text 28"/>
          <p:cNvSpPr txBox="1"/>
          <p:nvPr/>
        </p:nvSpPr>
        <p:spPr>
          <a:xfrm>
            <a:off x="7589520" y="1636776"/>
            <a:ext cx="10515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servidores VM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263640" y="210312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6263640" y="2176272"/>
            <a:ext cx="1143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FD0"/>
                </a:solidFill>
              </a:rPr>
              <a:t>75</a:t>
            </a:r>
            <a:endParaRPr lang="en-US" sz="2600" dirty="0"/>
          </a:p>
        </p:txBody>
      </p:sp>
      <p:sp>
        <p:nvSpPr>
          <p:cNvPr id="40" name="Text 31"/>
          <p:cNvSpPr txBox="1"/>
          <p:nvPr/>
        </p:nvSpPr>
        <p:spPr>
          <a:xfrm>
            <a:off x="6309360" y="2596896"/>
            <a:ext cx="10515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reglas de firewall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7543800" y="210312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7543800" y="2176272"/>
            <a:ext cx="1143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FD0"/>
                </a:solidFill>
              </a:rPr>
              <a:t>25</a:t>
            </a:r>
            <a:endParaRPr lang="en-US" sz="2600" dirty="0"/>
          </a:p>
        </p:txBody>
      </p:sp>
      <p:sp>
        <p:nvSpPr>
          <p:cNvPr id="43" name="Text 34"/>
          <p:cNvSpPr txBox="1"/>
          <p:nvPr/>
        </p:nvSpPr>
        <p:spPr>
          <a:xfrm>
            <a:off x="7589520" y="2596896"/>
            <a:ext cx="105156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alertas</a:t>
            </a:r>
            <a:endParaRPr lang="en-US" sz="1050" dirty="0"/>
          </a:p>
        </p:txBody>
      </p:sp>
      <p:sp>
        <p:nvSpPr>
          <p:cNvPr id="44" name="Text 35"/>
          <p:cNvSpPr txBox="1"/>
          <p:nvPr/>
        </p:nvSpPr>
        <p:spPr>
          <a:xfrm>
            <a:off x="6263640" y="310896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</a:rPr>
              <a:t>Modo personalizado: GCP no crea subnets automáticas en todas las regiones; cada sucursal declara solo la suya.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VS GCP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Eddyson Huamani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Misma entrada lógica, diferencias reales respetadas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1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AWS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GCP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D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Reglas de seguridad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Security Group con N reglas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Un firewall por regla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Salida a Internet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Internet Gateway + ruta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Cloud Router + NAT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Región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En el provider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En cada recurso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Logs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Retención por Log Group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</a:rPr>
                        <a:t>Retención por proyecto</a:t>
                      </a:r>
                      <a:endParaRPr lang="en-US" sz="1150" dirty="0"/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Común en branches.yaml: </a:t>
            </a:r>
            <a:pPr indent="0" marL="0">
              <a:buNone/>
            </a:pPr>
            <a:r>
              <a:rPr lang="en-US" sz="1200" dirty="0">
                <a:solidFill>
                  <a:srgbClr val="1A5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size, servers, rules, monitoring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7606A"/>
                </a:solidFill>
              </a:rPr>
              <a:t>TFLint (CI) marcó 4 advertencias en gcp/*: variables sin uso y una interpolación obsoleta → corregidas.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0" y="1362456"/>
            <a:ext cx="3017520" cy="91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79008" y="12161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16168" y="12161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53328" y="12161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170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test  (extracto del log)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1453896"/>
            <a:ext cx="274320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gcp_compute.tftest.hcl...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gcp_monitoring.tftest.hcl...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gcp_network.tftest.hcl...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"vpc_es_de_modo_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personalizado"...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"rechaza_subnet_cidr_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invalido"...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gcp_network.tftest.hcl...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gcp_security.tftest.hcl...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"rechaza_puerto_fuera_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de_rango"... pass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gcp_security.tftest.hcl... pass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Huber Remuzgo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CI/CD y seguridad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14300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expone: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91640"/>
            <a:ext cx="2606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Pipeline común AWS + GCP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Aprobación por Pull Request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Secretos: gitleaks y Checkov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Laboratorio Docker en CI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Huber Remuzgo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Un pipeline para ambos proveedores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216152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formato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691640" y="1600200"/>
            <a:ext cx="146304" cy="914"/>
          </a:xfrm>
          <a:prstGeom prst="line">
            <a:avLst/>
          </a:prstGeom>
          <a:noFill/>
          <a:ln w="1905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56232" y="1188720"/>
            <a:ext cx="1216152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56232" y="1188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x3 entornos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90672" y="1600200"/>
            <a:ext cx="146304" cy="914"/>
          </a:xfrm>
          <a:prstGeom prst="line">
            <a:avLst/>
          </a:prstGeom>
          <a:noFill/>
          <a:ln w="1905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55264" y="1188720"/>
            <a:ext cx="1216152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5264" y="1188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50 sucursales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9704" y="1600200"/>
            <a:ext cx="146304" cy="914"/>
          </a:xfrm>
          <a:prstGeom prst="line">
            <a:avLst/>
          </a:prstGeom>
          <a:noFill/>
          <a:ln w="1905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54296" y="1188720"/>
            <a:ext cx="1216152" cy="822960"/>
          </a:xfrm>
          <a:prstGeom prst="roundRect">
            <a:avLst>
              <a:gd name="adj" fmla="val 888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1188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27 pruebas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88736" y="1600200"/>
            <a:ext cx="146304" cy="914"/>
          </a:xfrm>
          <a:prstGeom prst="line">
            <a:avLst/>
          </a:prstGeom>
          <a:noFill/>
          <a:ln w="1905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53328" y="1188720"/>
            <a:ext cx="1216152" cy="822960"/>
          </a:xfrm>
          <a:prstGeom prst="roundRect">
            <a:avLst>
              <a:gd name="adj" fmla="val 888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53328" y="1188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TFLint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estilo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87768" y="1600200"/>
            <a:ext cx="146304" cy="914"/>
          </a:xfrm>
          <a:prstGeom prst="line">
            <a:avLst/>
          </a:prstGeom>
          <a:noFill/>
          <a:ln w="1905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1188720"/>
            <a:ext cx="1216152" cy="822960"/>
          </a:xfrm>
          <a:prstGeom prst="roundRect">
            <a:avLst>
              <a:gd name="adj" fmla="val 8889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1188720"/>
            <a:ext cx="1216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Checkov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+ gitleaks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Aprobación de un cambio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24912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91440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</a:rPr>
              <a:t>Rama feature/... → Pull Request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0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14400" y="3145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</a:rPr>
              <a:t>Validaciones automáticas en verde</a:t>
            </a:r>
            <a:endParaRPr lang="en-US" sz="12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75888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14400" y="36210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</a:rPr>
              <a:t>Revisor humano con checklist</a:t>
            </a:r>
            <a:endParaRPr lang="en-US" sz="12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5137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1440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</a:rPr>
              <a:t>Merge a main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846320" y="228600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029200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Despliegue seguro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029200" y="27889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OIDC hacia IAM / Workload Identity: sin claves estáticas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apply solo tras aprobación en GitHub Environment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Checkov frena configuraciones inseguras antes de aplicar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 Y DOCKER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Huber Remuzgo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Cero secretos en el repo y aislamiento probado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25296"/>
            <a:ext cx="457200" cy="457200"/>
          </a:xfrm>
          <a:prstGeom prst="ellipse">
            <a:avLst/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188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.gitignore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excluye .tfstate, .tfvars, .pem, .key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11096"/>
            <a:ext cx="457200" cy="457200"/>
          </a:xfrm>
          <a:prstGeom prst="ellipse">
            <a:avLst/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20824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1874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gitleaks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escanea todo el historial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0662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Verificación extra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falla si se sube un state o una clave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3282696"/>
            <a:ext cx="457200" cy="457200"/>
          </a:xfrm>
          <a:prstGeom prst="ellipse">
            <a:avLst/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9242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Mínimo privilegio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roles IAM acotados por entorno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402336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94360" y="4023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Lab Docker: corrió en GitHub Actions (ubuntu-latest) porque el equipo local no tenía Docker operativo.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4251960" y="1143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E9F6EE"/>
          </a:solidFill>
          <a:ln w="15875">
            <a:solidFill>
              <a:srgbClr val="2DA44E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4361688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sucursal-01-net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361688" y="14630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5544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818888" y="14630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suc01-web01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361688" y="2011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210312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818888" y="20116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suc01-app01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629400" y="1143000"/>
            <a:ext cx="2057400" cy="1417320"/>
          </a:xfrm>
          <a:prstGeom prst="roundRect">
            <a:avLst>
              <a:gd name="adj" fmla="val 5161"/>
            </a:avLst>
          </a:prstGeom>
          <a:solidFill>
            <a:srgbClr val="E9F6EE"/>
          </a:solidFill>
          <a:ln w="15875">
            <a:solidFill>
              <a:srgbClr val="2DA44E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739128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sucursal-02-net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739128" y="146304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856" y="155448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196328" y="14630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suc02-web01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39128" y="2011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856" y="2103120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196328" y="20116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</a:rPr>
              <a:t>suc02-app01</a:t>
            </a:r>
            <a:endParaRPr lang="en-US" sz="12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1691640"/>
            <a:ext cx="201168" cy="201168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4251960" y="2697480"/>
            <a:ext cx="4434840" cy="1920240"/>
          </a:xfrm>
          <a:prstGeom prst="roundRect">
            <a:avLst>
              <a:gd name="adj" fmla="val 2857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4251960" y="2916936"/>
            <a:ext cx="4434840" cy="91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4361688" y="277063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4498848" y="277063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4636008" y="277063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4800600" y="272491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docker-lab · GitHub Actions run 37832592874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4389120" y="3008376"/>
            <a:ext cx="41605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4 contenedores estan healthy.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status=200  status=200  status=200  status=200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OK: conectividad interna confirmada en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ambas sucursales.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OK: suc01-web01 NO pudo alcanzar suc02-web01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(aislamiento confirmado, exit=1)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Karen Quispe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State, Drift y pruebas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3 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1143000"/>
            <a:ext cx="301752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expone: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91640"/>
            <a:ext cx="2606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Terraform State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Detección de drift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Plan de pruebas CP01-CP16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E6EDF3"/>
                </a:solidFill>
              </a:rPr>
              <a:t>Resultados y conclusiones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STATE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Karen Quispe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El state: el inventario de lo que Terraform creó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5E6"/>
          </a:solidFill>
          <a:ln w="15875">
            <a:solidFill>
              <a:srgbClr val="B86E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AWS  </a:t>
            </a:r>
            <a:pPr indent="0" marL="0">
              <a:buNone/>
            </a:pPr>
            <a:r>
              <a:rPr lang="en-US" sz="1100" dirty="0">
                <a:solidFill>
                  <a:srgbClr val="B86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S3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Backend S3 por entorno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Versionado + cifrado KMS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Bloqueo: DynamoDB o use_lockfile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IAM acotado al prefijo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DF3FE"/>
          </a:solidFill>
          <a:ln w="15875">
            <a:solidFill>
              <a:srgbClr val="1A5F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GCP  </a:t>
            </a:r>
            <a:pPr indent="0" marL="0">
              <a:buNone/>
            </a:pPr>
            <a:r>
              <a:rPr lang="en-US" sz="1100" dirty="0">
                <a:solidFill>
                  <a:srgbClr val="1A5F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GCS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83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Backend GCS por entorno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Object Versioning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Bloqueo nativo de GCS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Cuenta de servicio acotada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9904" y="118872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E9F6EE"/>
          </a:solidFill>
          <a:ln w="15875">
            <a:solidFill>
              <a:srgbClr val="2DA4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2784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</a:rPr>
              <a:t>Local  </a:t>
            </a:r>
            <a:pPr indent="0" marL="0">
              <a:buNone/>
            </a:pPr>
            <a:r>
              <a:rPr lang="en-US" sz="11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17830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Backend local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init → apply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state list / show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328"/>
                </a:solidFill>
              </a:rPr>
              <a:t>plan → apply → destroy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5156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</a:rPr>
              <a:t>El state guarda datos sensibles en texto plano: nunca se sube a Git y leerlo es como leer secretos.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DRIFT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Karen Quispe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Alguien cambia algo a mano: Terraform lo detecta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521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crea el archivo gestionado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914" cy="192024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D0102B"/>
          </a:solidFill>
          <a:ln w="12700">
            <a:solidFill>
              <a:srgbClr val="D01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8379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 manual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max_connections 100 → 9999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350008"/>
            <a:ext cx="914" cy="192024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5237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detecta la diferencia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035808"/>
            <a:ext cx="914" cy="192024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2095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conservar o revertir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721608"/>
            <a:ext cx="914" cy="192024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8953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</a:rPr>
              <a:t>vuelve a lo declarado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023360" y="1143000"/>
            <a:ext cx="4663440" cy="3520440"/>
          </a:xfrm>
          <a:prstGeom prst="roundRect">
            <a:avLst>
              <a:gd name="adj" fmla="val 1558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1362456"/>
            <a:ext cx="4663440" cy="91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33088" y="121615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70248" y="121615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121615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11704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lab/drift · run_drift_demo.ps1  (extracto del log)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1453896"/>
            <a:ext cx="438912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5. Modificacion manual fuera de Terraform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max_connections=9999  # cambiado a mano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6. terraform plan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local_file.server_config will be created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Plan: 1 to add, 0 to change, 0 to destroy.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8. Decision: reconciliar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complete! Resources: 1 added,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changed, 0 destroyed.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9. Verificacion final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max_connections=100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A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Karen Quispe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Resultados de las pruebas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161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A44E"/>
                </a:solidFill>
              </a:rPr>
              <a:t>16/16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casos de prueba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2161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A44E"/>
                </a:solidFill>
              </a:rPr>
              <a:t>27/27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terraform 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2161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0102B"/>
                </a:solidFill>
              </a:rPr>
              <a:t>50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sucursales validadas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11430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2161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0102B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691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</a:rPr>
              <a:t>secretos en el repo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3172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F2328"/>
                </a:solidFill>
              </a:rPr>
              <a:t>Escalable: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328"/>
                </a:solidFill>
              </a:rPr>
              <a:t>la sucursal 51 es un cambio de datos, no de código.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F2328"/>
                </a:solidFill>
              </a:rPr>
              <a:t>Pruebas automatizadas: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328"/>
                </a:solidFill>
              </a:rPr>
              <a:t>mock_provider halló un error real.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F2328"/>
                </a:solidFill>
              </a:rPr>
              <a:t>Seguro: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328"/>
                </a:solidFill>
              </a:rPr>
              <a:t>cero secretos en el repo y revisión por Pull Request.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F2328"/>
                </a:solidFill>
              </a:rPr>
              <a:t>Mantenible: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328"/>
                </a:solidFill>
              </a:rPr>
              <a:t>módulos documentados y reutilizables.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92040" y="2331720"/>
            <a:ext cx="3794760" cy="19659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551176"/>
            <a:ext cx="3794760" cy="91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01768" y="2404872"/>
            <a:ext cx="82296" cy="8229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2404872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76088" y="2404872"/>
            <a:ext cx="82296" cy="8229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23591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validate.ps1  (extracto del log)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2642616"/>
            <a:ext cx="3520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validate - production (40) ===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Success! The configuration is valid.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validate - staging (6) ===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Success! The configuration is valid.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validate - development (4) ===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Success! The configuration is valid.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Sucursales analizadas: 50  AWS: 25 GCP: 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 changes.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Gracias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B949E"/>
                </a:solidFill>
              </a:rPr>
              <a:t>¿Preguntas?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github.com/ThiagoIcochea/ServiciosCloudIAC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Icochea · Gonzales · Huamani · Remuzgo · Quispe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502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50/50 sucursales validadas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48756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4828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2864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00900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88936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6972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3044" y="822960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8756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4828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12864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0900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8936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6972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3044" y="1110996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48756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4828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12864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0900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88936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6972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5008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53044" y="1399032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48756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4828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12864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00900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88936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6972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65008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53044" y="1687068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8756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36792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24828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12864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00900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88936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6972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65008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53044" y="1975104"/>
            <a:ext cx="224028" cy="224028"/>
          </a:xfrm>
          <a:prstGeom prst="roundRect">
            <a:avLst>
              <a:gd name="adj" fmla="val 12245"/>
            </a:avLst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60720" y="25146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760720" y="2587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</a:rPr>
              <a:t>16/16</a:t>
            </a:r>
            <a:endParaRPr lang="en-US" sz="2600" dirty="0"/>
          </a:p>
        </p:txBody>
      </p:sp>
      <p:sp>
        <p:nvSpPr>
          <p:cNvPr id="59" name="Text 57"/>
          <p:cNvSpPr txBox="1"/>
          <p:nvPr/>
        </p:nvSpPr>
        <p:spPr>
          <a:xfrm>
            <a:off x="5806440" y="3063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casos de prueba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251192" y="25146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251192" y="2587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B950"/>
                </a:solidFill>
              </a:rPr>
              <a:t>27/27</a:t>
            </a:r>
            <a:endParaRPr lang="en-US" sz="2600" dirty="0"/>
          </a:p>
        </p:txBody>
      </p:sp>
      <p:sp>
        <p:nvSpPr>
          <p:cNvPr id="62" name="Text 60"/>
          <p:cNvSpPr txBox="1"/>
          <p:nvPr/>
        </p:nvSpPr>
        <p:spPr>
          <a:xfrm>
            <a:off x="7296912" y="3063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pruebas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760720" y="3566160"/>
            <a:ext cx="2862072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760720" y="3639312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EDF3"/>
                </a:solidFill>
              </a:rPr>
              <a:t>5 frentes</a:t>
            </a:r>
            <a:endParaRPr lang="en-US" sz="2600" dirty="0"/>
          </a:p>
        </p:txBody>
      </p:sp>
      <p:sp>
        <p:nvSpPr>
          <p:cNvPr id="65" name="Text 63"/>
          <p:cNvSpPr txBox="1"/>
          <p:nvPr/>
        </p:nvSpPr>
        <p:spPr>
          <a:xfrm>
            <a:off x="5806440" y="411480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5 integrantes, 3 min c/u</a:t>
            </a:r>
            <a:endParaRPr lang="en-US" sz="1050" dirty="0"/>
          </a:p>
        </p:txBody>
      </p:sp>
      <p:sp>
        <p:nvSpPr>
          <p:cNvPr id="67" name="Text 0"/>
          <p:cNvSpPr/>
          <p:nvPr>
            <p:ph idx="101" type="body" hasCustomPrompt="1"/>
          </p:nvPr>
        </p:nvSpPr>
        <p:spPr>
          <a:xfrm>
            <a:off x="54864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A1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glosario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Términos clave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1155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Terraform / HCL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Herramienta de IaC; HCL es su lenguaje (.tf).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11556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11155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Módulo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Molde reutilizable: red, servidores, seguridad o monitoreo.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11556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4768" y="11155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branch-stack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Orquestador: aplica los módulos a cada sucursal.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837944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8379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branches.yaml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Datos de las 50 sucursales; no crea nada por sí solo.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837944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55848" y="18379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for_each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Repite un módulo una vez por cada sucursal.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837944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4768" y="18379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VPC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Red privada y aislada de una sucursal en la nube.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Subnet / CIDR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Sección de la red / rango de IPs (10.10.1.0/24).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560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55848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EC2 / Compute Engine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Servidores virtuales de AWS / de GCP.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2560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44768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Security Group / Firewall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Reglas de quién puede entrar (80, 443, 22).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82696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2826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CloudWatch / Cloud Monitoring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Monitoreo: alarmas si la CPU sube.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282696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55848" y="32826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State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Inventario de lo que Terraform creó.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3282696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44768" y="32826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Drift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Diferencia entre el código y la realidad por cambios a mano.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40050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mock_provider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Proveedor simulado para probar los módulos rápido.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400507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55848" y="40050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CI/CD · GitHub Actions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Revisiones automáticas en cada cambio.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35040" y="4005072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44768" y="40050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0102B"/>
                </a:solidFill>
              </a:rPr>
              <a:t>Pull Request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1F2328"/>
                </a:solidFill>
              </a:rPr>
              <a:t>Solicitud para que otro revise antes de unir el cambio.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01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A2 </a:t>
            </a:r>
            <a:pPr indent="0" marL="0">
              <a:buNone/>
            </a:pPr>
            <a:r>
              <a:rPr lang="en-US" sz="1100" b="1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</a:t>
            </a:r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preguntas frecuentes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Preguntas frecuentes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D0102B"/>
                </a:solidFill>
              </a:rPr>
              <a:t>¿Qué es Infraestructura como Código?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8"/>
                </a:solidFill>
              </a:rPr>
              <a:t>Definir la infraestructura en archivos de texto versionados, en vez de configurarla a mano.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11556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D0102B"/>
                </a:solidFill>
              </a:rPr>
              <a:t>¿Cómo se agrega la sucursal 51?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8"/>
                </a:solidFill>
              </a:rPr>
              <a:t>Se añade una entrada a branches.yaml (con el script); ningún archivo .tf cambia (CP15).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37744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B86E00"/>
                </a:solidFill>
              </a:rPr>
              <a:t>¿Por qué una VPC por sucursal?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8"/>
                </a:solidFill>
              </a:rPr>
              <a:t>Aislamiento real: un error o ataque en una sucursal no afecta a las demás.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30428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37744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A5FD0"/>
                </a:solidFill>
              </a:rPr>
              <a:t>¿Por qué 25 AWS y 25 GCP?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8"/>
                </a:solidFill>
              </a:rPr>
              <a:t>Supuesto académico: impares a AWS, pares a GCP. En la realidad decide el negocio.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9300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56616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9A6B00"/>
                </a:solidFill>
              </a:rPr>
              <a:t>¿Qué pasa si alguien cambia algo a mano?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8"/>
                </a:solidFill>
              </a:rPr>
              <a:t>terraform plan lo detecta (drift) y un apply lo devuelve a lo declarado.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349300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3566160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DA44E"/>
                </a:solidFill>
              </a:rPr>
              <a:t>¿Cómo evitan subir secretos?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328"/>
                </a:solidFill>
              </a:rPr>
              <a:t>.gitignore, gitleaks y una verificación que hace fallar el pipeline.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949E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P IaC Terminal">
  <a:themeElements>
    <a:clrScheme name="UTP IaC Terminal">
      <a:dk1>
        <a:srgbClr val="0E1116"/>
      </a:dk1>
      <a:lt1>
        <a:srgbClr val="FFFFFF"/>
      </a:lt1>
      <a:dk2>
        <a:srgbClr val="161B22"/>
      </a:dk2>
      <a:lt2>
        <a:srgbClr val="F2F3F5"/>
      </a:lt2>
      <a:accent1>
        <a:srgbClr val="D0102B"/>
      </a:accent1>
      <a:accent2>
        <a:srgbClr val="FF9900"/>
      </a:accent2>
      <a:accent3>
        <a:srgbClr val="4285F4"/>
      </a:accent3>
      <a:accent4>
        <a:srgbClr val="2DA44E"/>
      </a:accent4>
      <a:accent5>
        <a:srgbClr val="6E7681"/>
      </a:accent5>
      <a:accent6>
        <a:srgbClr val="D29922"/>
      </a:accent6>
      <a:hlink>
        <a:srgbClr val="D0102B"/>
      </a:hlink>
      <a:folHlink>
        <a:srgbClr val="8C0A1C"/>
      </a:folHlink>
    </a:clrScheme>
    <a:fontScheme name="UTP IaC Termin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IaC multi-cloud para 50 sucursales</dc:title>
  <dc:subject>PptxGenJS Presentation</dc:subject>
  <dc:creator>Grupo Servicios Cloud - UTP</dc:creator>
  <cp:lastModifiedBy>Grupo Servicios Cloud - UTP</cp:lastModifiedBy>
  <cp:revision>1</cp:revision>
  <dcterms:created xsi:type="dcterms:W3CDTF">2026-10-16T22:49:41Z</dcterms:created>
  <dcterms:modified xsi:type="dcterms:W3CDTF">2026-10-16T22:49:41Z</dcterms:modified>
</cp:coreProperties>
</file>